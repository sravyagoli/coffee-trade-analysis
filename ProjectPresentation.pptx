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80" r:id="rId5"/>
    <p:sldId id="283" r:id="rId6"/>
    <p:sldId id="284" r:id="rId7"/>
    <p:sldId id="286" r:id="rId8"/>
    <p:sldId id="287" r:id="rId9"/>
    <p:sldId id="288" r:id="rId10"/>
    <p:sldId id="289" r:id="rId11"/>
    <p:sldId id="290" r:id="rId12"/>
    <p:sldId id="291" r:id="rId13"/>
    <p:sldId id="292" r:id="rId14"/>
    <p:sldId id="293" r:id="rId15"/>
    <p:sldId id="294" r:id="rId16"/>
    <p:sldId id="295" r:id="rId17"/>
    <p:sldId id="297" r:id="rId18"/>
    <p:sldId id="298" r:id="rId19"/>
    <p:sldId id="299" r:id="rId20"/>
    <p:sldId id="285" r:id="rId21"/>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032E33-9567-DC8E-3818-9C6E4F112D8C}" name="Stacey Greene" initials="SG" userId="S::agreene@stevens.edu::8691361d-68f7-40e3-a002-b2b2c8069a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32E"/>
    <a:srgbClr val="CBA7AC"/>
    <a:srgbClr val="931626"/>
    <a:srgbClr val="D42A44"/>
    <a:srgbClr val="A01C30"/>
    <a:srgbClr val="97202F"/>
    <a:srgbClr val="C9A0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A4798-365D-C3EA-2667-937814DC0DD4}" v="640" dt="2025-04-29T12:00:48.755"/>
    <p1510:client id="{A2685677-6322-6C98-FAA8-1761B731F7E3}" v="8" dt="2025-04-29T02:57:38.537"/>
    <p1510:client id="{C6BC7693-D6E6-09E1-64BC-4BD7918F87F1}" v="3" dt="2025-04-29T03:37:27.464"/>
    <p1510:client id="{EE4FFAFC-24E7-B6A2-2ABE-7C205BC016F7}" v="742" dt="2025-04-29T21:42:28.220"/>
    <p1510:client id="{F2574489-8600-16C4-FA50-596C278BE551}" v="211" dt="2025-04-29T01:41:02.224"/>
    <p1510:client id="{FDE894B6-586C-363F-DCB8-9C3E3B131F6A}" v="386" dt="2025-04-28T19:56:22.4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BABBBE-0E97-304C-A14F-CFF7AF2FC3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4ECF25FF-F103-E140-AA2F-A291A898F9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CB09BD-BFD4-C543-BCB7-7879F3C786EC}" type="datetimeFigureOut">
              <a:rPr lang="en-US" smtClean="0">
                <a:latin typeface="Arial" panose="020B0604020202020204" pitchFamily="34" charset="0"/>
              </a:rPr>
              <a:t>5/6/2025</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E37AC63F-C589-D049-8D2C-3A5DD72DDF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36DBCE39-32AC-0141-9501-433176B5E0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C11B52-B5C6-D34E-9796-AF384EDCFDB4}"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91574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Nova" panose="020B03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Nova" panose="020B0304020202020204" pitchFamily="34" charset="0"/>
              </a:defRPr>
            </a:lvl1pPr>
          </a:lstStyle>
          <a:p>
            <a:fld id="{BA948F17-CD88-C84D-81CB-EFB18C377763}" type="datetimeFigureOut">
              <a:rPr lang="en-US" smtClean="0"/>
              <a:pPr/>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Nova" panose="020B03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Nova" panose="020B0304020202020204" pitchFamily="34" charset="0"/>
              </a:defRPr>
            </a:lvl1pPr>
          </a:lstStyle>
          <a:p>
            <a:fld id="{C5DB341C-843E-6244-9C40-DD933A1134AC}" type="slidenum">
              <a:rPr lang="en-US" smtClean="0"/>
              <a:pPr/>
              <a:t>‹#›</a:t>
            </a:fld>
            <a:endParaRPr lang="en-US"/>
          </a:p>
        </p:txBody>
      </p:sp>
    </p:spTree>
    <p:extLst>
      <p:ext uri="{BB962C8B-B14F-4D97-AF65-F5344CB8AC3E}">
        <p14:creationId xmlns:p14="http://schemas.microsoft.com/office/powerpoint/2010/main" val="1186247763"/>
      </p:ext>
    </p:extLst>
  </p:cSld>
  <p:clrMap bg1="lt1" tx1="dk1" bg2="lt2" tx2="dk2" accent1="accent1" accent2="accent2" accent3="accent3" accent4="accent4" accent5="accent5" accent6="accent6" hlink="hlink" folHlink="folHlink"/>
  <p:notesStyle>
    <a:lvl1pPr marL="0" algn="l" defTabSz="914354" rtl="0" eaLnBrk="1" latinLnBrk="0" hangingPunct="1">
      <a:defRPr sz="1200" b="0" i="0" kern="1200">
        <a:solidFill>
          <a:schemeClr val="tx1"/>
        </a:solidFill>
        <a:latin typeface="Arial Nova" panose="020B0304020202020204" pitchFamily="34" charset="0"/>
        <a:ea typeface="+mn-ea"/>
        <a:cs typeface="+mn-cs"/>
      </a:defRPr>
    </a:lvl1pPr>
    <a:lvl2pPr marL="457178" algn="l" defTabSz="914354" rtl="0" eaLnBrk="1" latinLnBrk="0" hangingPunct="1">
      <a:defRPr sz="1200" b="0" i="0" kern="1200">
        <a:solidFill>
          <a:schemeClr val="tx1"/>
        </a:solidFill>
        <a:latin typeface="Arial Nova" panose="020B0304020202020204" pitchFamily="34" charset="0"/>
        <a:ea typeface="+mn-ea"/>
        <a:cs typeface="+mn-cs"/>
      </a:defRPr>
    </a:lvl2pPr>
    <a:lvl3pPr marL="914354" algn="l" defTabSz="914354" rtl="0" eaLnBrk="1" latinLnBrk="0" hangingPunct="1">
      <a:defRPr sz="1200" b="0" i="0" kern="1200">
        <a:solidFill>
          <a:schemeClr val="tx1"/>
        </a:solidFill>
        <a:latin typeface="Arial Nova" panose="020B0304020202020204" pitchFamily="34" charset="0"/>
        <a:ea typeface="+mn-ea"/>
        <a:cs typeface="+mn-cs"/>
      </a:defRPr>
    </a:lvl3pPr>
    <a:lvl4pPr marL="1371532" algn="l" defTabSz="914354" rtl="0" eaLnBrk="1" latinLnBrk="0" hangingPunct="1">
      <a:defRPr sz="1200" b="0" i="0" kern="1200">
        <a:solidFill>
          <a:schemeClr val="tx1"/>
        </a:solidFill>
        <a:latin typeface="Arial Nova" panose="020B0304020202020204" pitchFamily="34" charset="0"/>
        <a:ea typeface="+mn-ea"/>
        <a:cs typeface="+mn-cs"/>
      </a:defRPr>
    </a:lvl4pPr>
    <a:lvl5pPr marL="1828709" algn="l" defTabSz="914354" rtl="0" eaLnBrk="1" latinLnBrk="0" hangingPunct="1">
      <a:defRPr sz="1200" b="0" i="0" kern="1200">
        <a:solidFill>
          <a:schemeClr val="tx1"/>
        </a:solidFill>
        <a:latin typeface="Arial Nova" panose="020B0304020202020204" pitchFamily="34" charset="0"/>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7BEC07CF-DE1C-5A16-AFE3-58045ECDE0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168D54-7A73-18F8-ADFA-A2790DA6BE4A}"/>
              </a:ext>
            </a:extLst>
          </p:cNvPr>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Arial Nova Cond Light" panose="020B0506020202020204" pitchFamily="34" charset="0"/>
              </a:defRPr>
            </a:lvl1pPr>
          </a:lstStyle>
          <a:p>
            <a:r>
              <a:rPr lang="en-US"/>
              <a:t>CLICK TO EDIT TITLE</a:t>
            </a:r>
          </a:p>
        </p:txBody>
      </p:sp>
      <p:sp>
        <p:nvSpPr>
          <p:cNvPr id="3" name="Subtitle 2">
            <a:extLst>
              <a:ext uri="{FF2B5EF4-FFF2-40B4-BE49-F238E27FC236}">
                <a16:creationId xmlns:a16="http://schemas.microsoft.com/office/drawing/2014/main" id="{58C8A321-3799-3D0C-D5A4-CA5C30A7CB56}"/>
              </a:ext>
            </a:extLst>
          </p:cNvPr>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Arial Nova" panose="020B030402020202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subtitle</a:t>
            </a:r>
          </a:p>
        </p:txBody>
      </p:sp>
      <p:sp>
        <p:nvSpPr>
          <p:cNvPr id="17" name="Text Placeholder 16">
            <a:extLst>
              <a:ext uri="{FF2B5EF4-FFF2-40B4-BE49-F238E27FC236}">
                <a16:creationId xmlns:a16="http://schemas.microsoft.com/office/drawing/2014/main" id="{E6F838CB-CD72-2334-C381-9BF56F85A624}"/>
              </a:ext>
            </a:extLst>
          </p:cNvPr>
          <p:cNvSpPr>
            <a:spLocks noGrp="1"/>
          </p:cNvSpPr>
          <p:nvPr>
            <p:ph type="body" sz="quarter" idx="11" hasCustomPrompt="1"/>
          </p:nvPr>
        </p:nvSpPr>
        <p:spPr>
          <a:xfrm>
            <a:off x="4675910" y="5690085"/>
            <a:ext cx="6854708" cy="422507"/>
          </a:xfrm>
        </p:spPr>
        <p:txBody>
          <a:bodyPr>
            <a:normAutofit/>
          </a:bodyPr>
          <a:lstStyle>
            <a:lvl1pPr marL="0" indent="0" algn="r">
              <a:buNone/>
              <a:defRPr sz="1800" b="0" i="0">
                <a:solidFill>
                  <a:schemeClr val="bg1"/>
                </a:solidFill>
                <a:latin typeface="Arial Nova" panose="020B0304020202020204" pitchFamily="34" charset="0"/>
              </a:defRPr>
            </a:lvl1pPr>
            <a:lvl2pPr marL="457178" indent="0" algn="r">
              <a:buNone/>
              <a:defRPr/>
            </a:lvl2pPr>
            <a:lvl3pPr marL="914354" indent="0" algn="r">
              <a:buNone/>
              <a:defRPr/>
            </a:lvl3pPr>
            <a:lvl4pPr marL="1371532" indent="0" algn="r">
              <a:buNone/>
              <a:defRPr/>
            </a:lvl4pPr>
            <a:lvl5pPr marL="1828709" indent="0" algn="r">
              <a:buNone/>
              <a:defRPr/>
            </a:lvl5pPr>
          </a:lstStyle>
          <a:p>
            <a:pPr lvl="0"/>
            <a:r>
              <a:rPr lang="en-US"/>
              <a:t>PRESENTER’S NAME</a:t>
            </a:r>
          </a:p>
        </p:txBody>
      </p:sp>
      <p:sp>
        <p:nvSpPr>
          <p:cNvPr id="4" name="Date Placeholder 3">
            <a:extLst>
              <a:ext uri="{FF2B5EF4-FFF2-40B4-BE49-F238E27FC236}">
                <a16:creationId xmlns:a16="http://schemas.microsoft.com/office/drawing/2014/main" id="{EB9B160D-2B04-EFF9-9233-5CF3861AACE8}"/>
              </a:ext>
            </a:extLst>
          </p:cNvPr>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0" i="0">
                <a:solidFill>
                  <a:schemeClr val="bg1"/>
                </a:solidFill>
                <a:latin typeface="Arial Nova" panose="020B0304020202020204" pitchFamily="34" charset="0"/>
              </a:defRPr>
            </a:lvl1pPr>
          </a:lstStyle>
          <a:p>
            <a:r>
              <a:rPr lang="en-US"/>
              <a:t>Date</a:t>
            </a:r>
          </a:p>
        </p:txBody>
      </p:sp>
    </p:spTree>
    <p:extLst>
      <p:ext uri="{BB962C8B-B14F-4D97-AF65-F5344CB8AC3E}">
        <p14:creationId xmlns:p14="http://schemas.microsoft.com/office/powerpoint/2010/main" val="1179889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286604-6423-9046-9A81-4C181823B0B3}"/>
              </a:ext>
            </a:extLst>
          </p:cNvPr>
          <p:cNvSpPr/>
          <p:nvPr userDrawn="1"/>
        </p:nvSpPr>
        <p:spPr>
          <a:xfrm>
            <a:off x="0" y="0"/>
            <a:ext cx="9044609" cy="6858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7" name="Picture 6" descr="A picture containing shape&#10;&#10;Description automatically generated">
            <a:extLst>
              <a:ext uri="{FF2B5EF4-FFF2-40B4-BE49-F238E27FC236}">
                <a16:creationId xmlns:a16="http://schemas.microsoft.com/office/drawing/2014/main" id="{09EFC173-553B-6926-8999-560997D15CA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9224" y="0"/>
            <a:ext cx="11893551" cy="6858000"/>
          </a:xfrm>
          <a:prstGeom prst="rect">
            <a:avLst/>
          </a:prstGeom>
        </p:spPr>
      </p:pic>
      <p:sp>
        <p:nvSpPr>
          <p:cNvPr id="2" name="Title 1">
            <a:extLst>
              <a:ext uri="{FF2B5EF4-FFF2-40B4-BE49-F238E27FC236}">
                <a16:creationId xmlns:a16="http://schemas.microsoft.com/office/drawing/2014/main" id="{45AB2B46-2729-15F1-5BB4-6B7ADEAC4AAE}"/>
              </a:ext>
            </a:extLst>
          </p:cNvPr>
          <p:cNvSpPr>
            <a:spLocks noGrp="1"/>
          </p:cNvSpPr>
          <p:nvPr>
            <p:ph type="title" hasCustomPrompt="1"/>
          </p:nvPr>
        </p:nvSpPr>
        <p:spPr>
          <a:xfrm>
            <a:off x="7871791" y="1321904"/>
            <a:ext cx="3658826" cy="3906495"/>
          </a:xfrm>
        </p:spPr>
        <p:txBody>
          <a:bodyPr anchor="b">
            <a:normAutofit/>
          </a:bodyPr>
          <a:lstStyle>
            <a:lvl1pPr algn="r">
              <a:defRPr sz="5400"/>
            </a:lvl1pPr>
          </a:lstStyle>
          <a:p>
            <a:r>
              <a:rPr lang="en-US"/>
              <a:t>CLICK TO EDIT TITLE</a:t>
            </a:r>
          </a:p>
        </p:txBody>
      </p:sp>
      <p:sp>
        <p:nvSpPr>
          <p:cNvPr id="3" name="Text Placeholder 2">
            <a:extLst>
              <a:ext uri="{FF2B5EF4-FFF2-40B4-BE49-F238E27FC236}">
                <a16:creationId xmlns:a16="http://schemas.microsoft.com/office/drawing/2014/main" id="{A5953286-7208-5D15-2115-F32E5C24CE0F}"/>
              </a:ext>
            </a:extLst>
          </p:cNvPr>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Arial Nova" panose="020B0304020202020204" pitchFamily="34" charset="0"/>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Click to edit text</a:t>
            </a:r>
          </a:p>
        </p:txBody>
      </p:sp>
    </p:spTree>
    <p:extLst>
      <p:ext uri="{BB962C8B-B14F-4D97-AF65-F5344CB8AC3E}">
        <p14:creationId xmlns:p14="http://schemas.microsoft.com/office/powerpoint/2010/main" val="3430770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p:txBody>
          <a:bodyPr/>
          <a:lstStyle>
            <a:lvl1pPr marL="228600" indent="-228600">
              <a:defRPr/>
            </a:lvl1pPr>
            <a:lvl2pPr marL="502920" indent="-228589">
              <a:buSzPct val="100000"/>
              <a:buFont typeface="System Font Regular"/>
              <a:buChar char="-"/>
              <a:defRPr/>
            </a:lvl2pPr>
            <a:lvl3pPr marL="777240" indent="-228589">
              <a:buSzPct val="100000"/>
              <a:buFont typeface="System Font Regular"/>
              <a:buChar char="-"/>
              <a:defRPr/>
            </a:lvl3pPr>
            <a:lvl4pPr marL="1005840" indent="-228589">
              <a:buSzPct val="100000"/>
              <a:buFont typeface="System Font Regular"/>
              <a:buChar char="-"/>
              <a:defRPr/>
            </a:lvl4pPr>
            <a:lvl5pPr marL="1280160" indent="-228589">
              <a:buSzPct val="100000"/>
              <a:buFont typeface="System Font Regular"/>
              <a:buChar char="-"/>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070826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F907F06-D602-4071-33E4-C472B24F1ACC}"/>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4" name="Text Placeholder 3">
            <a:extLst>
              <a:ext uri="{FF2B5EF4-FFF2-40B4-BE49-F238E27FC236}">
                <a16:creationId xmlns:a16="http://schemas.microsoft.com/office/drawing/2014/main" id="{B7F9FF48-9E75-6C88-7706-B4D4B29E8027}"/>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Arial Nova" panose="020B0304020202020204"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Make sure to use brand colors when creating tables and graphs. If graphs are placed from an outside source, please reformat to use the Stevens Theme Colors set in this template.</a:t>
            </a:r>
          </a:p>
        </p:txBody>
      </p:sp>
      <p:sp>
        <p:nvSpPr>
          <p:cNvPr id="3" name="Content Placeholder 2">
            <a:extLst>
              <a:ext uri="{FF2B5EF4-FFF2-40B4-BE49-F238E27FC236}">
                <a16:creationId xmlns:a16="http://schemas.microsoft.com/office/drawing/2014/main" id="{7091BE1E-C7BA-1F2A-DB51-F2BDF8885EBC}"/>
              </a:ext>
            </a:extLst>
          </p:cNvPr>
          <p:cNvSpPr>
            <a:spLocks noGrp="1"/>
          </p:cNvSpPr>
          <p:nvPr>
            <p:ph idx="1" hasCustomPrompt="1"/>
          </p:nvPr>
        </p:nvSpPr>
        <p:spPr>
          <a:xfrm>
            <a:off x="644771" y="2202874"/>
            <a:ext cx="10709031" cy="387927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59B86B0-6C6C-3FCD-0D64-D84FBF647614}"/>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7373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1825625"/>
            <a:ext cx="5181600"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0208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1825625"/>
            <a:ext cx="3296919" cy="435133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639866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410B2EF-F0F6-7528-D1AE-B660054C2BB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1" name="Text Placeholder 3">
            <a:extLst>
              <a:ext uri="{FF2B5EF4-FFF2-40B4-BE49-F238E27FC236}">
                <a16:creationId xmlns:a16="http://schemas.microsoft.com/office/drawing/2014/main" id="{38C80B25-96A7-774E-2468-5777A0523942}"/>
              </a:ext>
            </a:extLst>
          </p:cNvPr>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Arial Nova" panose="020B0304020202020204"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endParaRPr lang="en-US"/>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73"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52BFFF7-3F56-AD0F-118D-AF92E147DB0A}"/>
              </a:ext>
            </a:extLst>
          </p:cNvPr>
          <p:cNvSpPr>
            <a:spLocks noGrp="1"/>
          </p:cNvSpPr>
          <p:nvPr>
            <p:ph sz="half" idx="13" hasCustomPrompt="1"/>
          </p:nvPr>
        </p:nvSpPr>
        <p:spPr>
          <a:xfrm>
            <a:off x="4351622"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8058471" y="2325836"/>
            <a:ext cx="3296919"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26794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D89C836-F4D4-9B58-2D26-DBC3E659121C}"/>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34900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Arial Nova" panose="020B0304020202020204"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381142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F436CFC-B187-8D35-9B90-53CDD3C63724}"/>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2200513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590D32B-BE46-D2FF-5124-9FDB39359486}"/>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13" name="Text Placeholder 3">
            <a:extLst>
              <a:ext uri="{FF2B5EF4-FFF2-40B4-BE49-F238E27FC236}">
                <a16:creationId xmlns:a16="http://schemas.microsoft.com/office/drawing/2014/main" id="{9FC42B0F-D951-B28C-B437-6054E47EBDFD}"/>
              </a:ext>
            </a:extLst>
          </p:cNvPr>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Arial Nova" panose="020B0304020202020204"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15" name="Content Placeholder 2">
            <a:extLst>
              <a:ext uri="{FF2B5EF4-FFF2-40B4-BE49-F238E27FC236}">
                <a16:creationId xmlns:a16="http://schemas.microsoft.com/office/drawing/2014/main" id="{33F4AA73-6270-8996-F775-27ADF208BB76}"/>
              </a:ext>
            </a:extLst>
          </p:cNvPr>
          <p:cNvSpPr>
            <a:spLocks noGrp="1"/>
          </p:cNvSpPr>
          <p:nvPr>
            <p:ph sz="half" idx="1" hasCustomPrompt="1"/>
          </p:nvPr>
        </p:nvSpPr>
        <p:spPr>
          <a:xfrm>
            <a:off x="644771" y="2210082"/>
            <a:ext cx="4572000" cy="3890163"/>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96A1FF-9563-1D0B-9D8F-4D3CE6D345C1}"/>
              </a:ext>
            </a:extLst>
          </p:cNvPr>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9" name="Text Placeholder 4">
            <a:extLst>
              <a:ext uri="{FF2B5EF4-FFF2-40B4-BE49-F238E27FC236}">
                <a16:creationId xmlns:a16="http://schemas.microsoft.com/office/drawing/2014/main" id="{99928444-9A41-AAEE-EC0C-055B01E3FA33}"/>
              </a:ext>
            </a:extLst>
          </p:cNvPr>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0" name="Text Placeholder 4">
            <a:extLst>
              <a:ext uri="{FF2B5EF4-FFF2-40B4-BE49-F238E27FC236}">
                <a16:creationId xmlns:a16="http://schemas.microsoft.com/office/drawing/2014/main" id="{157F465B-8F7A-5BDD-5E92-E3A4922D0EB8}"/>
              </a:ext>
            </a:extLst>
          </p:cNvPr>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11" name="Text Placeholder 4">
            <a:extLst>
              <a:ext uri="{FF2B5EF4-FFF2-40B4-BE49-F238E27FC236}">
                <a16:creationId xmlns:a16="http://schemas.microsoft.com/office/drawing/2014/main" id="{8903BE86-C433-D59A-ADA6-4BDB1F1AC224}"/>
              </a:ext>
            </a:extLst>
          </p:cNvPr>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178" indent="0" algn="ctr">
              <a:buNone/>
              <a:defRPr/>
            </a:lvl2pPr>
            <a:lvl3pPr marL="914354" indent="0" algn="ctr">
              <a:buNone/>
              <a:defRPr/>
            </a:lvl3pPr>
            <a:lvl4pPr marL="1371532" indent="0" algn="ctr">
              <a:buNone/>
              <a:defRPr/>
            </a:lvl4pPr>
            <a:lvl5pPr marL="1828709" indent="0" algn="ctr">
              <a:buNone/>
              <a:defRPr/>
            </a:lvl5pPr>
          </a:lstStyle>
          <a:p>
            <a:pPr lvl="0"/>
            <a:r>
              <a:rPr lang="en-US"/>
              <a:t>Click to edit text</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508237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FB8F7E-E499-364F-DBBC-112AB229FB0F}"/>
              </a:ext>
            </a:extLst>
          </p:cNvPr>
          <p:cNvSpPr>
            <a:spLocks noGrp="1"/>
          </p:cNvSpPr>
          <p:nvPr>
            <p:ph type="title" hasCustomPrompt="1"/>
          </p:nvPr>
        </p:nvSpPr>
        <p:spPr>
          <a:xfrm>
            <a:off x="646359" y="365127"/>
            <a:ext cx="10709031" cy="734621"/>
          </a:xfrm>
        </p:spPr>
        <p:txBody>
          <a:bodyPr/>
          <a:lstStyle/>
          <a:p>
            <a:r>
              <a:rPr lang="en-US"/>
              <a:t>CLICK TO EDIT TITLE</a:t>
            </a:r>
          </a:p>
        </p:txBody>
      </p:sp>
      <p:sp>
        <p:nvSpPr>
          <p:cNvPr id="9" name="Text Placeholder 3">
            <a:extLst>
              <a:ext uri="{FF2B5EF4-FFF2-40B4-BE49-F238E27FC236}">
                <a16:creationId xmlns:a16="http://schemas.microsoft.com/office/drawing/2014/main" id="{C2104D11-CF58-8BD0-F89F-27B8D217FA90}"/>
              </a:ext>
            </a:extLst>
          </p:cNvPr>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Arial Nova" panose="020B0304020202020204" pitchFamily="34" charset="0"/>
              </a:defRPr>
            </a:lvl1pPr>
            <a:lvl2pPr marL="457178" indent="0">
              <a:buNone/>
              <a:defRPr b="0" i="0">
                <a:solidFill>
                  <a:schemeClr val="accent1"/>
                </a:solidFill>
                <a:latin typeface="IBM Plex Sans Light" panose="020B0403050203000203" pitchFamily="34" charset="0"/>
              </a:defRPr>
            </a:lvl2pPr>
            <a:lvl3pPr marL="914354" indent="0">
              <a:buNone/>
              <a:defRPr b="0" i="0">
                <a:solidFill>
                  <a:schemeClr val="accent1"/>
                </a:solidFill>
                <a:latin typeface="IBM Plex Sans Light" panose="020B0403050203000203" pitchFamily="34" charset="0"/>
              </a:defRPr>
            </a:lvl3pPr>
            <a:lvl4pPr marL="1371532" indent="0">
              <a:buNone/>
              <a:defRPr b="0" i="0">
                <a:solidFill>
                  <a:schemeClr val="accent1"/>
                </a:solidFill>
                <a:latin typeface="IBM Plex Sans Light" panose="020B0403050203000203" pitchFamily="34" charset="0"/>
              </a:defRPr>
            </a:lvl4pPr>
            <a:lvl5pPr marL="1828709" indent="0">
              <a:buNone/>
              <a:defRPr b="0" i="0">
                <a:solidFill>
                  <a:schemeClr val="accent1"/>
                </a:solidFill>
                <a:latin typeface="IBM Plex Sans Light" panose="020B0403050203000203" pitchFamily="34" charset="0"/>
              </a:defRPr>
            </a:lvl5pPr>
          </a:lstStyle>
          <a:p>
            <a:pPr lvl="0"/>
            <a:r>
              <a:rPr lang="en-US"/>
              <a:t>Click to edit subhead</a:t>
            </a:r>
          </a:p>
        </p:txBody>
      </p:sp>
      <p:sp>
        <p:nvSpPr>
          <p:cNvPr id="3" name="Content Placeholder 2">
            <a:extLst>
              <a:ext uri="{FF2B5EF4-FFF2-40B4-BE49-F238E27FC236}">
                <a16:creationId xmlns:a16="http://schemas.microsoft.com/office/drawing/2014/main" id="{55861FEF-A671-1F7D-9144-4A18E9166FFA}"/>
              </a:ext>
            </a:extLst>
          </p:cNvPr>
          <p:cNvSpPr>
            <a:spLocks noGrp="1"/>
          </p:cNvSpPr>
          <p:nvPr>
            <p:ph sz="half" idx="1" hasCustomPrompt="1"/>
          </p:nvPr>
        </p:nvSpPr>
        <p:spPr>
          <a:xfrm>
            <a:off x="644769"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BBBBC6-6719-80F5-099C-8B072696F417}"/>
              </a:ext>
            </a:extLst>
          </p:cNvPr>
          <p:cNvSpPr>
            <a:spLocks noGrp="1"/>
          </p:cNvSpPr>
          <p:nvPr>
            <p:ph sz="half" idx="2" hasCustomPrompt="1"/>
          </p:nvPr>
        </p:nvSpPr>
        <p:spPr>
          <a:xfrm>
            <a:off x="6172200" y="2325836"/>
            <a:ext cx="5181600" cy="3851129"/>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B512A74-75CF-9BD0-220A-2635D0FE0668}"/>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97548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74C1-7A20-8CB4-3DD4-EB8A50BB8128}"/>
              </a:ext>
            </a:extLst>
          </p:cNvPr>
          <p:cNvSpPr>
            <a:spLocks noGrp="1"/>
          </p:cNvSpPr>
          <p:nvPr>
            <p:ph type="title" hasCustomPrompt="1"/>
          </p:nvPr>
        </p:nvSpPr>
        <p:spPr>
          <a:xfrm>
            <a:off x="644769" y="365125"/>
            <a:ext cx="10710619" cy="1325563"/>
          </a:xfrm>
        </p:spPr>
        <p:txBody>
          <a:bodyPr/>
          <a:lstStyle/>
          <a:p>
            <a:r>
              <a:rPr lang="en-US"/>
              <a:t>CLICK TO EDIT TITLE</a:t>
            </a:r>
          </a:p>
        </p:txBody>
      </p:sp>
      <p:sp>
        <p:nvSpPr>
          <p:cNvPr id="3" name="Text Placeholder 2">
            <a:extLst>
              <a:ext uri="{FF2B5EF4-FFF2-40B4-BE49-F238E27FC236}">
                <a16:creationId xmlns:a16="http://schemas.microsoft.com/office/drawing/2014/main" id="{817277B2-0A2F-FA77-9E15-CA3A58A5B545}"/>
              </a:ext>
            </a:extLst>
          </p:cNvPr>
          <p:cNvSpPr>
            <a:spLocks noGrp="1"/>
          </p:cNvSpPr>
          <p:nvPr>
            <p:ph type="body" idx="1" hasCustomPrompt="1"/>
          </p:nvPr>
        </p:nvSpPr>
        <p:spPr>
          <a:xfrm>
            <a:off x="644772"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07B25F01-3996-B6B6-F8FD-75E9120A8843}"/>
              </a:ext>
            </a:extLst>
          </p:cNvPr>
          <p:cNvSpPr>
            <a:spLocks noGrp="1"/>
          </p:cNvSpPr>
          <p:nvPr>
            <p:ph sz="half" idx="2" hasCustomPrompt="1"/>
          </p:nvPr>
        </p:nvSpPr>
        <p:spPr>
          <a:xfrm>
            <a:off x="644772" y="2505075"/>
            <a:ext cx="5157787"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473F84-FD9A-282A-FBCC-F5ADD527FC9F}"/>
              </a:ext>
            </a:extLst>
          </p:cNvPr>
          <p:cNvSpPr>
            <a:spLocks noGrp="1"/>
          </p:cNvSpPr>
          <p:nvPr>
            <p:ph type="body" sz="quarter" idx="3" hasCustomPrompt="1"/>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5EE5DE14-382A-1AC7-A660-8E5831B83608}"/>
              </a:ext>
            </a:extLst>
          </p:cNvPr>
          <p:cNvSpPr>
            <a:spLocks noGrp="1"/>
          </p:cNvSpPr>
          <p:nvPr>
            <p:ph sz="quarter" idx="4" hasCustomPrompt="1"/>
          </p:nvPr>
        </p:nvSpPr>
        <p:spPr>
          <a:xfrm>
            <a:off x="6172202" y="2505075"/>
            <a:ext cx="5183188" cy="36845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9E6D1FFC-28E6-E13A-7721-39658D2AA087}"/>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3920924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27957-9EED-8271-0E72-EFAE0371AF15}"/>
              </a:ext>
            </a:extLst>
          </p:cNvPr>
          <p:cNvSpPr>
            <a:spLocks noGrp="1"/>
          </p:cNvSpPr>
          <p:nvPr>
            <p:ph type="title" hasCustomPrompt="1"/>
          </p:nvPr>
        </p:nvSpPr>
        <p:spPr/>
        <p:txBody>
          <a:bodyPr/>
          <a:lstStyle/>
          <a:p>
            <a:r>
              <a:rPr lang="en-US"/>
              <a:t>CLICK TO EDIT TITLE</a:t>
            </a:r>
          </a:p>
        </p:txBody>
      </p:sp>
      <p:sp>
        <p:nvSpPr>
          <p:cNvPr id="5" name="Slide Number Placeholder 4">
            <a:extLst>
              <a:ext uri="{FF2B5EF4-FFF2-40B4-BE49-F238E27FC236}">
                <a16:creationId xmlns:a16="http://schemas.microsoft.com/office/drawing/2014/main" id="{D555F4F9-1684-DE61-8B6E-9C5982CDC272}"/>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05363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93D118-64C2-DAF8-93EF-9D41A6B09A50}"/>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1526407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46ACC9-E2A9-486E-5749-83DDF3B956C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Nova" panose="020B0304020202020204" pitchFamily="34" charset="0"/>
            </a:endParaRPr>
          </a:p>
        </p:txBody>
      </p:sp>
    </p:spTree>
    <p:extLst>
      <p:ext uri="{BB962C8B-B14F-4D97-AF65-F5344CB8AC3E}">
        <p14:creationId xmlns:p14="http://schemas.microsoft.com/office/powerpoint/2010/main" val="2920050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ABF1B99-BFB4-0688-A8CA-067A988DADEC}"/>
              </a:ext>
            </a:extLst>
          </p:cNvPr>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a:extLst>
              <a:ext uri="{FF2B5EF4-FFF2-40B4-BE49-F238E27FC236}">
                <a16:creationId xmlns:a16="http://schemas.microsoft.com/office/drawing/2014/main" id="{A1A211F7-F5B3-755A-0FE9-7416E5B6D3BB}"/>
              </a:ext>
            </a:extLst>
          </p:cNvPr>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1DCA10-F271-79EA-C335-35398B7961CF}"/>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2" name="Title 1">
            <a:extLst>
              <a:ext uri="{FF2B5EF4-FFF2-40B4-BE49-F238E27FC236}">
                <a16:creationId xmlns:a16="http://schemas.microsoft.com/office/drawing/2014/main" id="{F7F18D82-BCB2-4520-6E3E-BC47DF6E92F2}"/>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Tree>
    <p:extLst>
      <p:ext uri="{BB962C8B-B14F-4D97-AF65-F5344CB8AC3E}">
        <p14:creationId xmlns:p14="http://schemas.microsoft.com/office/powerpoint/2010/main" val="6845703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DE9B-54A8-866E-B788-EB3968761BC7}"/>
              </a:ext>
            </a:extLst>
          </p:cNvPr>
          <p:cNvSpPr>
            <a:spLocks noGrp="1"/>
          </p:cNvSpPr>
          <p:nvPr>
            <p:ph type="title" hasCustomPrompt="1"/>
          </p:nvPr>
        </p:nvSpPr>
        <p:spPr>
          <a:xfrm>
            <a:off x="644773" y="457200"/>
            <a:ext cx="4127255" cy="1600200"/>
          </a:xfrm>
        </p:spPr>
        <p:txBody>
          <a:bodyPr anchor="b"/>
          <a:lstStyle>
            <a:lvl1pPr>
              <a:defRPr sz="3200"/>
            </a:lvl1pPr>
          </a:lstStyle>
          <a:p>
            <a:r>
              <a:rPr lang="en-US"/>
              <a:t>Click to edit title</a:t>
            </a:r>
          </a:p>
        </p:txBody>
      </p:sp>
      <p:sp>
        <p:nvSpPr>
          <p:cNvPr id="4" name="Text Placeholder 3">
            <a:extLst>
              <a:ext uri="{FF2B5EF4-FFF2-40B4-BE49-F238E27FC236}">
                <a16:creationId xmlns:a16="http://schemas.microsoft.com/office/drawing/2014/main" id="{B31F6659-DAE0-7160-C9F6-2C8137D933BD}"/>
              </a:ext>
            </a:extLst>
          </p:cNvPr>
          <p:cNvSpPr>
            <a:spLocks noGrp="1"/>
          </p:cNvSpPr>
          <p:nvPr>
            <p:ph type="body" sz="half" idx="2" hasCustomPrompt="1"/>
          </p:nvPr>
        </p:nvSpPr>
        <p:spPr>
          <a:xfrm>
            <a:off x="644773" y="2057402"/>
            <a:ext cx="4127255"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Click to edit text</a:t>
            </a:r>
          </a:p>
        </p:txBody>
      </p:sp>
      <p:sp>
        <p:nvSpPr>
          <p:cNvPr id="3" name="Picture Placeholder 2">
            <a:extLst>
              <a:ext uri="{FF2B5EF4-FFF2-40B4-BE49-F238E27FC236}">
                <a16:creationId xmlns:a16="http://schemas.microsoft.com/office/drawing/2014/main" id="{3F05E2B1-FC9F-DFC8-B82B-3A9D2B911EBC}"/>
              </a:ext>
            </a:extLst>
          </p:cNvPr>
          <p:cNvSpPr>
            <a:spLocks noGrp="1"/>
          </p:cNvSpPr>
          <p:nvPr>
            <p:ph type="pic" idx="1"/>
          </p:nvPr>
        </p:nvSpPr>
        <p:spPr>
          <a:xfrm>
            <a:off x="5183188" y="987428"/>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7" name="Slide Number Placeholder 6">
            <a:extLst>
              <a:ext uri="{FF2B5EF4-FFF2-40B4-BE49-F238E27FC236}">
                <a16:creationId xmlns:a16="http://schemas.microsoft.com/office/drawing/2014/main" id="{330ECE5B-0146-1148-6A0D-A0F447C354AC}"/>
              </a:ext>
            </a:extLst>
          </p:cNvPr>
          <p:cNvSpPr>
            <a:spLocks noGrp="1"/>
          </p:cNvSpPr>
          <p:nvPr>
            <p:ph type="sldNum" sz="quarter" idx="12"/>
          </p:nvPr>
        </p:nvSpPr>
        <p:spPr/>
        <p:txBody>
          <a:bodyPr/>
          <a:lstStyle/>
          <a:p>
            <a:fld id="{4267CD5E-26CF-4249-8540-BB1D07FD4227}" type="slidenum">
              <a:rPr lang="en-US" smtClean="0"/>
              <a:t>‹#›</a:t>
            </a:fld>
            <a:endParaRPr lang="en-US"/>
          </a:p>
        </p:txBody>
      </p:sp>
    </p:spTree>
    <p:extLst>
      <p:ext uri="{BB962C8B-B14F-4D97-AF65-F5344CB8AC3E}">
        <p14:creationId xmlns:p14="http://schemas.microsoft.com/office/powerpoint/2010/main" val="4169371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B4C-D932-924C-A9B9-A7396B7CB503}"/>
              </a:ext>
            </a:extLst>
          </p:cNvPr>
          <p:cNvSpPr>
            <a:spLocks noGrp="1"/>
          </p:cNvSpPr>
          <p:nvPr>
            <p:ph type="title" hasCustomPrompt="1"/>
          </p:nvPr>
        </p:nvSpPr>
        <p:spPr/>
        <p:txBody>
          <a:bodyPr/>
          <a:lstStyle/>
          <a:p>
            <a:r>
              <a:rPr lang="en-US"/>
              <a:t>Click to edit title</a:t>
            </a:r>
          </a:p>
        </p:txBody>
      </p:sp>
      <p:sp>
        <p:nvSpPr>
          <p:cNvPr id="3" name="Vertical Text Placeholder 2">
            <a:extLst>
              <a:ext uri="{FF2B5EF4-FFF2-40B4-BE49-F238E27FC236}">
                <a16:creationId xmlns:a16="http://schemas.microsoft.com/office/drawing/2014/main" id="{61DF67A6-D1DA-71BB-CCFF-678D91838913}"/>
              </a:ext>
            </a:extLst>
          </p:cNvPr>
          <p:cNvSpPr>
            <a:spLocks noGrp="1"/>
          </p:cNvSpPr>
          <p:nvPr>
            <p:ph type="body" orient="vert" idx="1" hasCustomPrompt="1"/>
          </p:nvPr>
        </p:nvSpPr>
        <p:spPr/>
        <p:txBody>
          <a:bodyPr vert="eaVert"/>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94826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8CFDF3-4C0B-B588-73E9-559E689FE0AF}"/>
              </a:ext>
            </a:extLst>
          </p:cNvPr>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E20EF8-D417-90E9-AEFA-DB28B8392B89}"/>
              </a:ext>
            </a:extLst>
          </p:cNvPr>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8391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9A1BC7-0009-0549-8F97-13B5D310F8D3}"/>
              </a:ext>
            </a:extLst>
          </p:cNvPr>
          <p:cNvSpPr/>
          <p:nvPr userDrawn="1"/>
        </p:nvSpPr>
        <p:spPr>
          <a:xfrm>
            <a:off x="0" y="0"/>
            <a:ext cx="9044609"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pic>
        <p:nvPicPr>
          <p:cNvPr id="3" name="Picture 2" descr="A picture containing shape&#10;&#10;Description automatically generated">
            <a:extLst>
              <a:ext uri="{FF2B5EF4-FFF2-40B4-BE49-F238E27FC236}">
                <a16:creationId xmlns:a16="http://schemas.microsoft.com/office/drawing/2014/main" id="{E12E123F-8311-330F-DB73-3B618A779343}"/>
              </a:ext>
            </a:extLst>
          </p:cNvPr>
          <p:cNvPicPr>
            <a:picLocks noChangeAspect="1"/>
          </p:cNvPicPr>
          <p:nvPr userDrawn="1"/>
        </p:nvPicPr>
        <p:blipFill>
          <a:blip r:embed="rId2"/>
          <a:stretch>
            <a:fillRect/>
          </a:stretch>
        </p:blipFill>
        <p:spPr>
          <a:xfrm>
            <a:off x="88900" y="0"/>
            <a:ext cx="12192000" cy="6858000"/>
          </a:xfrm>
          <a:prstGeom prst="rect">
            <a:avLst/>
          </a:prstGeom>
        </p:spPr>
      </p:pic>
      <p:sp>
        <p:nvSpPr>
          <p:cNvPr id="5" name="TextBox 4">
            <a:extLst>
              <a:ext uri="{FF2B5EF4-FFF2-40B4-BE49-F238E27FC236}">
                <a16:creationId xmlns:a16="http://schemas.microsoft.com/office/drawing/2014/main" id="{84B2191C-6994-71BA-A63E-85F5AF6A9776}"/>
              </a:ext>
            </a:extLst>
          </p:cNvPr>
          <p:cNvSpPr txBox="1"/>
          <p:nvPr userDrawn="1"/>
        </p:nvSpPr>
        <p:spPr>
          <a:xfrm>
            <a:off x="7284722" y="3144277"/>
            <a:ext cx="4245895" cy="923330"/>
          </a:xfrm>
          <a:prstGeom prst="rect">
            <a:avLst/>
          </a:prstGeom>
          <a:noFill/>
        </p:spPr>
        <p:txBody>
          <a:bodyPr wrap="square" rtlCol="0">
            <a:spAutoFit/>
          </a:bodyPr>
          <a:lstStyle/>
          <a:p>
            <a:pPr algn="r"/>
            <a:r>
              <a:rPr lang="en-US" sz="5400" b="0" i="0">
                <a:solidFill>
                  <a:schemeClr val="bg1"/>
                </a:solidFill>
                <a:latin typeface="Arial Nova Cond Light" panose="020B0506020202020204" pitchFamily="34" charset="0"/>
              </a:rPr>
              <a:t>THANK YOU</a:t>
            </a:r>
          </a:p>
        </p:txBody>
      </p:sp>
      <p:sp>
        <p:nvSpPr>
          <p:cNvPr id="9" name="TextBox 8">
            <a:extLst>
              <a:ext uri="{FF2B5EF4-FFF2-40B4-BE49-F238E27FC236}">
                <a16:creationId xmlns:a16="http://schemas.microsoft.com/office/drawing/2014/main" id="{7F2600DA-4934-A3D7-306B-06292C3154B8}"/>
              </a:ext>
            </a:extLst>
          </p:cNvPr>
          <p:cNvSpPr txBox="1"/>
          <p:nvPr userDrawn="1"/>
        </p:nvSpPr>
        <p:spPr>
          <a:xfrm>
            <a:off x="6096002" y="5170418"/>
            <a:ext cx="5434615" cy="584775"/>
          </a:xfrm>
          <a:prstGeom prst="rect">
            <a:avLst/>
          </a:prstGeom>
          <a:noFill/>
        </p:spPr>
        <p:txBody>
          <a:bodyPr wrap="square" rtlCol="0">
            <a:spAutoFit/>
          </a:bodyPr>
          <a:lstStyle/>
          <a:p>
            <a:pPr algn="r"/>
            <a:r>
              <a:rPr lang="en-US" sz="1600" b="0" i="0" kern="1200" dirty="0">
                <a:solidFill>
                  <a:schemeClr val="bg1"/>
                </a:solidFill>
                <a:effectLst/>
                <a:latin typeface="Arial Nova" panose="020B0304020202020204" pitchFamily="34" charset="0"/>
                <a:ea typeface="+mn-ea"/>
                <a:cs typeface="+mn-cs"/>
              </a:rPr>
              <a:t>Stevens Institute of Technology</a:t>
            </a:r>
            <a:br>
              <a:rPr lang="en-US" sz="1600" b="0" i="0" kern="1200" dirty="0">
                <a:solidFill>
                  <a:schemeClr val="bg1"/>
                </a:solidFill>
                <a:effectLst/>
                <a:latin typeface="Arial Nova" panose="020B0304020202020204" pitchFamily="34" charset="0"/>
                <a:ea typeface="+mn-ea"/>
                <a:cs typeface="+mn-cs"/>
              </a:rPr>
            </a:br>
            <a:r>
              <a:rPr lang="en-US" sz="1600" b="0" i="0" kern="1200" dirty="0">
                <a:solidFill>
                  <a:schemeClr val="bg1"/>
                </a:solidFill>
                <a:effectLst/>
                <a:latin typeface="Arial Nova" panose="020B0304020202020204" pitchFamily="34" charset="0"/>
                <a:ea typeface="+mn-ea"/>
                <a:cs typeface="+mn-cs"/>
              </a:rPr>
              <a:t>1 Castle Point Terrace, Hoboken, NJ 07030</a:t>
            </a:r>
          </a:p>
        </p:txBody>
      </p:sp>
    </p:spTree>
    <p:extLst>
      <p:ext uri="{BB962C8B-B14F-4D97-AF65-F5344CB8AC3E}">
        <p14:creationId xmlns:p14="http://schemas.microsoft.com/office/powerpoint/2010/main" val="600712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C58314-C2CD-B536-46C4-9B698E81FD0F}"/>
              </a:ext>
            </a:extLst>
          </p:cNvPr>
          <p:cNvPicPr>
            <a:picLocks noChangeAspect="1"/>
          </p:cNvPicPr>
          <p:nvPr userDrawn="1"/>
        </p:nvPicPr>
        <p:blipFill>
          <a:blip r:embed="rId23"/>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3D8260AC-B27C-DE3D-E8FB-3000BB8698CA}"/>
              </a:ext>
            </a:extLst>
          </p:cNvPr>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a:t>CLICK TO EDIT TITLE</a:t>
            </a:r>
          </a:p>
        </p:txBody>
      </p:sp>
      <p:sp>
        <p:nvSpPr>
          <p:cNvPr id="3" name="Text Placeholder 2">
            <a:extLst>
              <a:ext uri="{FF2B5EF4-FFF2-40B4-BE49-F238E27FC236}">
                <a16:creationId xmlns:a16="http://schemas.microsoft.com/office/drawing/2014/main" id="{227D0E4D-9C81-2FCD-CDF4-6788792CAAEC}"/>
              </a:ext>
            </a:extLst>
          </p:cNvPr>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6FF5758-A04B-569F-5DA2-3E27D28C73D9}"/>
              </a:ext>
            </a:extLst>
          </p:cNvPr>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0" i="0">
                <a:solidFill>
                  <a:schemeClr val="accent1"/>
                </a:solidFill>
                <a:latin typeface="Arial Nova" panose="020B0304020202020204" pitchFamily="34" charset="0"/>
              </a:defRPr>
            </a:lvl1pPr>
          </a:lstStyle>
          <a:p>
            <a:fld id="{4267CD5E-26CF-4249-8540-BB1D07FD4227}" type="slidenum">
              <a:rPr lang="en-US" smtClean="0"/>
              <a:pPr/>
              <a:t>‹#›</a:t>
            </a:fld>
            <a:endParaRPr lang="en-US"/>
          </a:p>
        </p:txBody>
      </p:sp>
    </p:spTree>
    <p:extLst>
      <p:ext uri="{BB962C8B-B14F-4D97-AF65-F5344CB8AC3E}">
        <p14:creationId xmlns:p14="http://schemas.microsoft.com/office/powerpoint/2010/main" val="34854453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62" r:id="rId4"/>
    <p:sldLayoutId id="2147483652" r:id="rId5"/>
    <p:sldLayoutId id="2147483670" r:id="rId6"/>
    <p:sldLayoutId id="2147483671" r:id="rId7"/>
    <p:sldLayoutId id="2147483665" r:id="rId8"/>
    <p:sldLayoutId id="2147483666" r:id="rId9"/>
    <p:sldLayoutId id="2147483668" r:id="rId10"/>
    <p:sldLayoutId id="2147483667" r:id="rId11"/>
    <p:sldLayoutId id="2147483664" r:id="rId12"/>
    <p:sldLayoutId id="2147483653" r:id="rId13"/>
    <p:sldLayoutId id="2147483654" r:id="rId14"/>
    <p:sldLayoutId id="2147483655" r:id="rId15"/>
    <p:sldLayoutId id="2147483663" r:id="rId16"/>
    <p:sldLayoutId id="2147483656" r:id="rId17"/>
    <p:sldLayoutId id="2147483657" r:id="rId18"/>
    <p:sldLayoutId id="2147483658" r:id="rId19"/>
    <p:sldLayoutId id="2147483659" r:id="rId20"/>
    <p:sldLayoutId id="2147483669" r:id="rId21"/>
  </p:sldLayoutIdLst>
  <p:hf hdr="0" ftr="0"/>
  <p:txStyles>
    <p:titleStyle>
      <a:lvl1pPr algn="l" defTabSz="914354" rtl="0" eaLnBrk="1" latinLnBrk="0" hangingPunct="1">
        <a:lnSpc>
          <a:spcPct val="90000"/>
        </a:lnSpc>
        <a:spcBef>
          <a:spcPct val="0"/>
        </a:spcBef>
        <a:buNone/>
        <a:defRPr sz="4000" b="1" i="0" kern="1200">
          <a:solidFill>
            <a:schemeClr val="tx1"/>
          </a:solidFill>
          <a:latin typeface="Arial Nova Cond" panose="020F0502020204030204" pitchFamily="34" charset="0"/>
          <a:ea typeface="+mj-ea"/>
          <a:cs typeface="+mj-cs"/>
        </a:defRPr>
      </a:lvl1pPr>
    </p:titleStyle>
    <p:bodyStyle>
      <a:lvl1pPr marL="228600" indent="-228600" algn="l" defTabSz="914354" rtl="0" eaLnBrk="1" latinLnBrk="0" hangingPunct="1">
        <a:lnSpc>
          <a:spcPct val="90000"/>
        </a:lnSpc>
        <a:spcBef>
          <a:spcPts val="1000"/>
        </a:spcBef>
        <a:buClr>
          <a:schemeClr val="accent4"/>
        </a:buClr>
        <a:buFont typeface="Wingdings" pitchFamily="2" charset="2"/>
        <a:buChar char="§"/>
        <a:defRPr sz="1800" b="0" i="0" kern="1200">
          <a:solidFill>
            <a:schemeClr val="tx1"/>
          </a:solidFill>
          <a:latin typeface="Arial Nova" panose="020B0304020202020204" pitchFamily="34" charset="0"/>
          <a:ea typeface="+mn-ea"/>
          <a:cs typeface="+mn-cs"/>
        </a:defRPr>
      </a:lvl1pPr>
      <a:lvl2pPr marL="502920" indent="-228600" algn="l" defTabSz="914354" rtl="0" eaLnBrk="1" latinLnBrk="0" hangingPunct="1">
        <a:lnSpc>
          <a:spcPct val="90000"/>
        </a:lnSpc>
        <a:spcBef>
          <a:spcPts val="500"/>
        </a:spcBef>
        <a:buClr>
          <a:schemeClr val="accent4"/>
        </a:buClr>
        <a:buFont typeface="System Font Regular"/>
        <a:buChar char="-"/>
        <a:defRPr sz="1800" b="0" i="0" kern="1200">
          <a:solidFill>
            <a:schemeClr val="tx1"/>
          </a:solidFill>
          <a:latin typeface="Arial Nova" panose="020B0304020202020204" pitchFamily="34" charset="0"/>
          <a:ea typeface="+mn-ea"/>
          <a:cs typeface="+mn-cs"/>
        </a:defRPr>
      </a:lvl2pPr>
      <a:lvl3pPr marL="7772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304020202020204" pitchFamily="34" charset="0"/>
          <a:ea typeface="+mn-ea"/>
          <a:cs typeface="+mn-cs"/>
        </a:defRPr>
      </a:lvl3pPr>
      <a:lvl4pPr marL="1005840" indent="-228600" algn="l" defTabSz="914354" rtl="0" eaLnBrk="1" latinLnBrk="0" hangingPunct="1">
        <a:lnSpc>
          <a:spcPct val="90000"/>
        </a:lnSpc>
        <a:spcBef>
          <a:spcPts val="500"/>
        </a:spcBef>
        <a:buClr>
          <a:schemeClr val="accent4"/>
        </a:buClr>
        <a:buFont typeface="System Font Regular"/>
        <a:buChar char="-"/>
        <a:defRPr sz="1600" b="0" i="0" kern="1200">
          <a:solidFill>
            <a:schemeClr val="tx1"/>
          </a:solidFill>
          <a:latin typeface="Arial Nova" panose="020B0304020202020204" pitchFamily="34" charset="0"/>
          <a:ea typeface="+mn-ea"/>
          <a:cs typeface="+mn-cs"/>
        </a:defRPr>
      </a:lvl4pPr>
      <a:lvl5pPr marL="1280160" indent="-228600" algn="l" defTabSz="914354" rtl="0" eaLnBrk="1" latinLnBrk="0" hangingPunct="1">
        <a:lnSpc>
          <a:spcPct val="90000"/>
        </a:lnSpc>
        <a:spcBef>
          <a:spcPts val="500"/>
        </a:spcBef>
        <a:buClr>
          <a:schemeClr val="accent4"/>
        </a:buClr>
        <a:buFont typeface="System Font Regular"/>
        <a:buChar char="-"/>
        <a:defRPr sz="1400" b="0" i="0" kern="1200">
          <a:solidFill>
            <a:schemeClr val="tx1"/>
          </a:solidFill>
          <a:latin typeface="Arial Nova" panose="020B0304020202020204" pitchFamily="34"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datasets/junkochida/faostat-coffee-production-data-1961-2022?select=Coffee_Production_1961-2022.csv" TargetMode="External"/><Relationship Id="rId2" Type="http://schemas.openxmlformats.org/officeDocument/2006/relationships/hyperlink" Target="https://www.kaggle.com/"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FAA2-C07A-0943-A630-F1492ED71448}"/>
              </a:ext>
            </a:extLst>
          </p:cNvPr>
          <p:cNvSpPr>
            <a:spLocks noGrp="1"/>
          </p:cNvSpPr>
          <p:nvPr>
            <p:ph type="ctrTitle"/>
          </p:nvPr>
        </p:nvSpPr>
        <p:spPr/>
        <p:txBody>
          <a:bodyPr>
            <a:normAutofit fontScale="90000"/>
          </a:bodyPr>
          <a:lstStyle/>
          <a:p>
            <a:r>
              <a:rPr lang="en-US" dirty="0">
                <a:latin typeface="Arial Nova Cond Light"/>
              </a:rPr>
              <a:t>BIA 500-B Business Analytics: Data, Models, and Decisions </a:t>
            </a:r>
            <a:endParaRPr lang="en-US" dirty="0"/>
          </a:p>
        </p:txBody>
      </p:sp>
      <p:sp>
        <p:nvSpPr>
          <p:cNvPr id="3" name="Subtitle 2">
            <a:extLst>
              <a:ext uri="{FF2B5EF4-FFF2-40B4-BE49-F238E27FC236}">
                <a16:creationId xmlns:a16="http://schemas.microsoft.com/office/drawing/2014/main" id="{EFF6D773-353D-94C4-5ED1-E219014D0C3A}"/>
              </a:ext>
            </a:extLst>
          </p:cNvPr>
          <p:cNvSpPr>
            <a:spLocks noGrp="1"/>
          </p:cNvSpPr>
          <p:nvPr>
            <p:ph type="subTitle" idx="1"/>
          </p:nvPr>
        </p:nvSpPr>
        <p:spPr/>
        <p:txBody>
          <a:bodyPr vert="horz" lIns="91440" tIns="45720" rIns="91440" bIns="45720" rtlCol="0" anchor="t">
            <a:normAutofit/>
          </a:bodyPr>
          <a:lstStyle/>
          <a:p>
            <a:r>
              <a:rPr lang="en-US">
                <a:latin typeface="Arial Nova"/>
              </a:rPr>
              <a:t>Tuesday 6:30 – 9:00 pm</a:t>
            </a:r>
          </a:p>
          <a:p>
            <a:r>
              <a:rPr lang="en-US">
                <a:latin typeface="Arial Nova"/>
              </a:rPr>
              <a:t>Spring 2025</a:t>
            </a:r>
            <a:endParaRPr lang="en-US"/>
          </a:p>
        </p:txBody>
      </p:sp>
      <p:sp>
        <p:nvSpPr>
          <p:cNvPr id="5" name="Text Placeholder 4">
            <a:extLst>
              <a:ext uri="{FF2B5EF4-FFF2-40B4-BE49-F238E27FC236}">
                <a16:creationId xmlns:a16="http://schemas.microsoft.com/office/drawing/2014/main" id="{76DF9A7D-5140-FE6A-1B0F-C8FCC110B54B}"/>
              </a:ext>
            </a:extLst>
          </p:cNvPr>
          <p:cNvSpPr>
            <a:spLocks noGrp="1"/>
          </p:cNvSpPr>
          <p:nvPr>
            <p:ph type="body" sz="quarter" idx="11"/>
          </p:nvPr>
        </p:nvSpPr>
        <p:spPr/>
        <p:txBody>
          <a:bodyPr vert="horz" lIns="91440" tIns="45720" rIns="91440" bIns="45720" rtlCol="0" anchor="t">
            <a:normAutofit/>
          </a:bodyPr>
          <a:lstStyle/>
          <a:p>
            <a:r>
              <a:rPr lang="en-US">
                <a:latin typeface="Arial Nova"/>
              </a:rPr>
              <a:t>Instructor: Brian Muller</a:t>
            </a:r>
            <a:endParaRPr lang="en-US"/>
          </a:p>
        </p:txBody>
      </p:sp>
      <p:sp>
        <p:nvSpPr>
          <p:cNvPr id="4" name="Date Placeholder 3">
            <a:extLst>
              <a:ext uri="{FF2B5EF4-FFF2-40B4-BE49-F238E27FC236}">
                <a16:creationId xmlns:a16="http://schemas.microsoft.com/office/drawing/2014/main" id="{D20968D9-35B6-3681-6045-6E282ACC0210}"/>
              </a:ext>
            </a:extLst>
          </p:cNvPr>
          <p:cNvSpPr>
            <a:spLocks noGrp="1"/>
          </p:cNvSpPr>
          <p:nvPr>
            <p:ph type="dt" sz="half" idx="10"/>
          </p:nvPr>
        </p:nvSpPr>
        <p:spPr/>
        <p:txBody>
          <a:bodyPr/>
          <a:lstStyle/>
          <a:p>
            <a:r>
              <a:rPr lang="en-US"/>
              <a:t>Date</a:t>
            </a:r>
          </a:p>
        </p:txBody>
      </p:sp>
      <p:sp>
        <p:nvSpPr>
          <p:cNvPr id="6" name="TextBox 5">
            <a:extLst>
              <a:ext uri="{FF2B5EF4-FFF2-40B4-BE49-F238E27FC236}">
                <a16:creationId xmlns:a16="http://schemas.microsoft.com/office/drawing/2014/main" id="{2872C8E7-8F1F-10B4-69A1-0D3AC09E5777}"/>
              </a:ext>
            </a:extLst>
          </p:cNvPr>
          <p:cNvSpPr txBox="1"/>
          <p:nvPr/>
        </p:nvSpPr>
        <p:spPr>
          <a:xfrm>
            <a:off x="11143376" y="6291742"/>
            <a:ext cx="321577" cy="265651"/>
          </a:xfrm>
          <a:prstGeom prst="rect">
            <a:avLst/>
          </a:prstGeom>
          <a:solidFill>
            <a:schemeClr val="accent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cxnSp>
        <p:nvCxnSpPr>
          <p:cNvPr id="7" name="Straight Arrow Connector 6">
            <a:extLst>
              <a:ext uri="{FF2B5EF4-FFF2-40B4-BE49-F238E27FC236}">
                <a16:creationId xmlns:a16="http://schemas.microsoft.com/office/drawing/2014/main" id="{472EF8C3-F8BC-5D18-6D6B-B1FFE2556C53}"/>
              </a:ext>
            </a:extLst>
          </p:cNvPr>
          <p:cNvCxnSpPr/>
          <p:nvPr/>
        </p:nvCxnSpPr>
        <p:spPr>
          <a:xfrm>
            <a:off x="10423321" y="6473504"/>
            <a:ext cx="1761688" cy="0"/>
          </a:xfrm>
          <a:prstGeom prst="straightConnector1">
            <a:avLst/>
          </a:prstGeom>
          <a:ln w="6350">
            <a:solidFill>
              <a:srgbClr val="CBA7AC"/>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219607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B60E-C43C-5FED-696E-CA71E298CD17}"/>
              </a:ext>
            </a:extLst>
          </p:cNvPr>
          <p:cNvSpPr>
            <a:spLocks noGrp="1"/>
          </p:cNvSpPr>
          <p:nvPr>
            <p:ph type="title"/>
          </p:nvPr>
        </p:nvSpPr>
        <p:spPr>
          <a:xfrm>
            <a:off x="644769" y="365125"/>
            <a:ext cx="10710619" cy="1325563"/>
          </a:xfrm>
        </p:spPr>
        <p:txBody>
          <a:bodyPr vert="horz" lIns="91440" tIns="45720" rIns="91440" bIns="45720" rtlCol="0" anchor="t">
            <a:normAutofit/>
          </a:bodyPr>
          <a:lstStyle/>
          <a:p>
            <a:r>
              <a:rPr lang="en-US" sz="3400"/>
              <a:t>Coffee Trade Analysis: </a:t>
            </a:r>
            <a:br>
              <a:rPr lang="en-US" sz="3400"/>
            </a:br>
            <a:r>
              <a:rPr lang="en-US" sz="3400"/>
              <a:t>A Comparative Study of Africa and Global Coffee Production</a:t>
            </a:r>
          </a:p>
        </p:txBody>
      </p:sp>
      <p:pic>
        <p:nvPicPr>
          <p:cNvPr id="5" name="Picture 4" descr="A map of the world made of coffee beans&#10;&#10;AI-generated content may be incorrect.">
            <a:extLst>
              <a:ext uri="{FF2B5EF4-FFF2-40B4-BE49-F238E27FC236}">
                <a16:creationId xmlns:a16="http://schemas.microsoft.com/office/drawing/2014/main" id="{B263EEB7-BBE8-7899-1CC5-06D8C2356B84}"/>
              </a:ext>
            </a:extLst>
          </p:cNvPr>
          <p:cNvPicPr>
            <a:picLocks noChangeAspect="1"/>
          </p:cNvPicPr>
          <p:nvPr/>
        </p:nvPicPr>
        <p:blipFill>
          <a:blip r:embed="rId2"/>
          <a:stretch>
            <a:fillRect/>
          </a:stretch>
        </p:blipFill>
        <p:spPr>
          <a:xfrm>
            <a:off x="552754" y="2141537"/>
            <a:ext cx="5181600" cy="2810026"/>
          </a:xfrm>
          <a:prstGeom prst="rect">
            <a:avLst/>
          </a:prstGeom>
          <a:noFill/>
        </p:spPr>
      </p:pic>
      <p:sp>
        <p:nvSpPr>
          <p:cNvPr id="3" name="Text Placeholder 2">
            <a:extLst>
              <a:ext uri="{FF2B5EF4-FFF2-40B4-BE49-F238E27FC236}">
                <a16:creationId xmlns:a16="http://schemas.microsoft.com/office/drawing/2014/main" id="{7AD49CAB-FA16-D193-ECD9-AB8AB88E0C62}"/>
              </a:ext>
            </a:extLst>
          </p:cNvPr>
          <p:cNvSpPr>
            <a:spLocks noGrp="1"/>
          </p:cNvSpPr>
          <p:nvPr>
            <p:ph sz="half" idx="2"/>
          </p:nvPr>
        </p:nvSpPr>
        <p:spPr>
          <a:xfrm>
            <a:off x="6173788" y="2141536"/>
            <a:ext cx="5181600" cy="4351339"/>
          </a:xfrm>
        </p:spPr>
        <p:txBody>
          <a:bodyPr vert="horz" lIns="91440" tIns="45720" rIns="91440" bIns="45720" rtlCol="0">
            <a:normAutofit/>
          </a:bodyPr>
          <a:lstStyle/>
          <a:p>
            <a:pPr marL="0" indent="0">
              <a:buNone/>
            </a:pPr>
            <a:r>
              <a:rPr lang="en-US" sz="2000" b="1" dirty="0"/>
              <a:t>Course Project by Group 4:</a:t>
            </a:r>
          </a:p>
          <a:p>
            <a:r>
              <a:rPr lang="en-US" sz="2000" b="1" dirty="0"/>
              <a:t>Janvi Pravinkumar Lakhani (20027851)</a:t>
            </a:r>
          </a:p>
          <a:p>
            <a:r>
              <a:rPr lang="en-US" sz="2000" b="1" dirty="0"/>
              <a:t>Harshitha </a:t>
            </a:r>
            <a:r>
              <a:rPr lang="en-US" sz="2000" b="1" dirty="0" err="1"/>
              <a:t>Tankasala</a:t>
            </a:r>
            <a:r>
              <a:rPr lang="en-US" sz="2000" b="1" dirty="0"/>
              <a:t> (20037178)</a:t>
            </a:r>
          </a:p>
          <a:p>
            <a:r>
              <a:rPr lang="en-US" sz="2000" b="1" dirty="0"/>
              <a:t>Amala </a:t>
            </a:r>
            <a:r>
              <a:rPr lang="en-US" sz="2000" b="1" dirty="0" err="1"/>
              <a:t>Koppu</a:t>
            </a:r>
            <a:r>
              <a:rPr lang="en-US" sz="2000" b="1" dirty="0"/>
              <a:t> (20025580)</a:t>
            </a:r>
          </a:p>
          <a:p>
            <a:r>
              <a:rPr lang="en-US" sz="2000" b="1" dirty="0"/>
              <a:t>Sravya Goli (20036249)</a:t>
            </a:r>
          </a:p>
          <a:p>
            <a:endParaRPr lang="en-US" dirty="0"/>
          </a:p>
        </p:txBody>
      </p:sp>
      <p:sp>
        <p:nvSpPr>
          <p:cNvPr id="12" name="Slide Number Placeholder 4">
            <a:extLst>
              <a:ext uri="{FF2B5EF4-FFF2-40B4-BE49-F238E27FC236}">
                <a16:creationId xmlns:a16="http://schemas.microsoft.com/office/drawing/2014/main" id="{4F733628-E905-3533-B82A-0DA692A87DF5}"/>
              </a:ext>
            </a:extLst>
          </p:cNvPr>
          <p:cNvSpPr>
            <a:spLocks noGrp="1"/>
          </p:cNvSpPr>
          <p:nvPr>
            <p:ph type="sldNum" sz="quarter" idx="12"/>
          </p:nvPr>
        </p:nvSpPr>
        <p:spPr>
          <a:xfrm>
            <a:off x="9375913" y="6276840"/>
            <a:ext cx="2743200" cy="365125"/>
          </a:xfrm>
        </p:spPr>
        <p:txBody>
          <a:bodyPr/>
          <a:lstStyle/>
          <a:p>
            <a:pPr>
              <a:spcAft>
                <a:spcPts val="600"/>
              </a:spcAft>
            </a:pPr>
            <a:fld id="{4267CD5E-26CF-4249-8540-BB1D07FD4227}" type="slidenum">
              <a:rPr lang="en-US" smtClean="0"/>
              <a:pPr>
                <a:spcAft>
                  <a:spcPts val="600"/>
                </a:spcAft>
              </a:pPr>
              <a:t>2</a:t>
            </a:fld>
            <a:endParaRPr lang="en-US"/>
          </a:p>
        </p:txBody>
      </p:sp>
    </p:spTree>
    <p:extLst>
      <p:ext uri="{BB962C8B-B14F-4D97-AF65-F5344CB8AC3E}">
        <p14:creationId xmlns:p14="http://schemas.microsoft.com/office/powerpoint/2010/main" val="61440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7566E0-885C-8AC9-9293-9068D3EB1BA2}"/>
              </a:ext>
            </a:extLst>
          </p:cNvPr>
          <p:cNvSpPr>
            <a:spLocks noGrp="1"/>
          </p:cNvSpPr>
          <p:nvPr>
            <p:ph type="title"/>
          </p:nvPr>
        </p:nvSpPr>
        <p:spPr/>
        <p:txBody>
          <a:bodyPr/>
          <a:lstStyle/>
          <a:p>
            <a:r>
              <a:rPr lang="en-US">
                <a:latin typeface="Arial Nova Cond"/>
              </a:rPr>
              <a:t>Project Objective</a:t>
            </a:r>
            <a:endParaRPr lang="en-US"/>
          </a:p>
        </p:txBody>
      </p:sp>
      <p:sp>
        <p:nvSpPr>
          <p:cNvPr id="2" name="Content Placeholder 1">
            <a:extLst>
              <a:ext uri="{FF2B5EF4-FFF2-40B4-BE49-F238E27FC236}">
                <a16:creationId xmlns:a16="http://schemas.microsoft.com/office/drawing/2014/main" id="{A2718B01-5559-D25B-AEA3-D07739F321BD}"/>
              </a:ext>
            </a:extLst>
          </p:cNvPr>
          <p:cNvSpPr>
            <a:spLocks noGrp="1"/>
          </p:cNvSpPr>
          <p:nvPr>
            <p:ph idx="1"/>
          </p:nvPr>
        </p:nvSpPr>
        <p:spPr>
          <a:xfrm>
            <a:off x="644771" y="1265028"/>
            <a:ext cx="10715543" cy="4817119"/>
          </a:xfrm>
        </p:spPr>
        <p:txBody>
          <a:bodyPr vert="horz" lIns="91440" tIns="45720" rIns="91440" bIns="45720" rtlCol="0" anchor="t">
            <a:normAutofit/>
          </a:bodyPr>
          <a:lstStyle/>
          <a:p>
            <a:pPr algn="just">
              <a:lnSpc>
                <a:spcPct val="100000"/>
              </a:lnSpc>
            </a:pPr>
            <a:r>
              <a:rPr lang="en-US" dirty="0">
                <a:latin typeface="Arial Nova"/>
              </a:rPr>
              <a:t>Analyze global coffee production patterns from </a:t>
            </a:r>
            <a:r>
              <a:rPr lang="en-US" b="1" dirty="0">
                <a:latin typeface="Arial Nova"/>
              </a:rPr>
              <a:t>1961 to 2022</a:t>
            </a:r>
            <a:r>
              <a:rPr lang="en-US" dirty="0">
                <a:latin typeface="Arial Nova"/>
              </a:rPr>
              <a:t> using real-world data.</a:t>
            </a:r>
            <a:endParaRPr lang="en-US" dirty="0"/>
          </a:p>
          <a:p>
            <a:pPr algn="just">
              <a:lnSpc>
                <a:spcPct val="100000"/>
              </a:lnSpc>
            </a:pPr>
            <a:r>
              <a:rPr lang="en-US" b="1" dirty="0">
                <a:latin typeface="Arial Nova"/>
              </a:rPr>
              <a:t>Evaluate Africa's role</a:t>
            </a:r>
            <a:r>
              <a:rPr lang="en-US" dirty="0">
                <a:latin typeface="Arial Nova"/>
              </a:rPr>
              <a:t> in the global coffee trade by comparing it with major producing continents: </a:t>
            </a:r>
            <a:r>
              <a:rPr lang="en-US" b="1" dirty="0">
                <a:latin typeface="Arial Nova"/>
              </a:rPr>
              <a:t>Americas, Asia, and Oceania.</a:t>
            </a:r>
            <a:endParaRPr lang="en-US" dirty="0">
              <a:latin typeface="Arial Nova"/>
            </a:endParaRPr>
          </a:p>
          <a:p>
            <a:pPr algn="just">
              <a:lnSpc>
                <a:spcPct val="100000"/>
              </a:lnSpc>
            </a:pPr>
            <a:r>
              <a:rPr lang="en-US" dirty="0">
                <a:latin typeface="Arial Nova"/>
              </a:rPr>
              <a:t>Examine key agricultural indicators:</a:t>
            </a:r>
            <a:endParaRPr lang="en-US" b="1" dirty="0">
              <a:latin typeface="Arial Nova"/>
            </a:endParaRPr>
          </a:p>
          <a:p>
            <a:pPr marL="0" indent="0" algn="just">
              <a:lnSpc>
                <a:spcPct val="100000"/>
              </a:lnSpc>
              <a:buNone/>
            </a:pPr>
            <a:r>
              <a:rPr lang="en-US" dirty="0">
                <a:latin typeface="Arial Nova"/>
              </a:rPr>
              <a:t>   </a:t>
            </a:r>
            <a:r>
              <a:rPr lang="en-US" dirty="0">
                <a:solidFill>
                  <a:schemeClr val="accent4"/>
                </a:solidFill>
                <a:latin typeface="Arial Nova"/>
              </a:rPr>
              <a:t>- </a:t>
            </a:r>
            <a:r>
              <a:rPr lang="en-US" dirty="0">
                <a:latin typeface="Arial Nova"/>
              </a:rPr>
              <a:t>Production Volume (tons)</a:t>
            </a:r>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Area Harvested (hectares)</a:t>
            </a:r>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Production Yield per Hectare (tons/hectare)</a:t>
            </a:r>
          </a:p>
          <a:p>
            <a:pPr marL="285750" indent="-285750" algn="just">
              <a:lnSpc>
                <a:spcPct val="100000"/>
              </a:lnSpc>
            </a:pPr>
            <a:r>
              <a:rPr lang="en-US" b="1" dirty="0">
                <a:latin typeface="Arial Nova"/>
              </a:rPr>
              <a:t>Identify leading and lagging countries</a:t>
            </a:r>
            <a:r>
              <a:rPr lang="en-US" dirty="0">
                <a:latin typeface="Arial Nova"/>
              </a:rPr>
              <a:t> within Africa and assess how they compare with global leaders like Brazil, Colombia, and Vietnam.</a:t>
            </a:r>
          </a:p>
          <a:p>
            <a:pPr marL="285750" indent="-285750" algn="just">
              <a:lnSpc>
                <a:spcPct val="100000"/>
              </a:lnSpc>
            </a:pPr>
            <a:r>
              <a:rPr lang="en-US" dirty="0">
                <a:latin typeface="Arial Nova"/>
              </a:rPr>
              <a:t>Identify performance gaps and improvement opportunities.</a:t>
            </a:r>
          </a:p>
        </p:txBody>
      </p:sp>
      <p:sp>
        <p:nvSpPr>
          <p:cNvPr id="3" name="Slide Number Placeholder 2">
            <a:extLst>
              <a:ext uri="{FF2B5EF4-FFF2-40B4-BE49-F238E27FC236}">
                <a16:creationId xmlns:a16="http://schemas.microsoft.com/office/drawing/2014/main" id="{86AC99B7-63A4-BA61-B324-32EB7752ECFD}"/>
              </a:ext>
            </a:extLst>
          </p:cNvPr>
          <p:cNvSpPr>
            <a:spLocks noGrp="1"/>
          </p:cNvSpPr>
          <p:nvPr>
            <p:ph type="sldNum" sz="quarter" idx="12"/>
          </p:nvPr>
        </p:nvSpPr>
        <p:spPr/>
        <p:txBody>
          <a:bodyPr/>
          <a:lstStyle/>
          <a:p>
            <a:fld id="{4267CD5E-26CF-4249-8540-BB1D07FD4227}" type="slidenum">
              <a:rPr lang="en-US" smtClean="0"/>
              <a:t>3</a:t>
            </a:fld>
            <a:endParaRPr lang="en-US"/>
          </a:p>
        </p:txBody>
      </p:sp>
    </p:spTree>
    <p:extLst>
      <p:ext uri="{BB962C8B-B14F-4D97-AF65-F5344CB8AC3E}">
        <p14:creationId xmlns:p14="http://schemas.microsoft.com/office/powerpoint/2010/main" val="344502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5666-9B48-8B8E-2736-8F83D7FADE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A3FB8A-F2F1-4E3A-761C-698ADDA2F08C}"/>
              </a:ext>
            </a:extLst>
          </p:cNvPr>
          <p:cNvSpPr>
            <a:spLocks noGrp="1"/>
          </p:cNvSpPr>
          <p:nvPr>
            <p:ph type="title"/>
          </p:nvPr>
        </p:nvSpPr>
        <p:spPr/>
        <p:txBody>
          <a:bodyPr/>
          <a:lstStyle/>
          <a:p>
            <a:r>
              <a:rPr lang="en-US">
                <a:latin typeface="Arial Nova Cond"/>
              </a:rPr>
              <a:t>Project Overview</a:t>
            </a:r>
            <a:endParaRPr lang="en-US"/>
          </a:p>
        </p:txBody>
      </p:sp>
      <p:sp>
        <p:nvSpPr>
          <p:cNvPr id="2" name="Content Placeholder 1">
            <a:extLst>
              <a:ext uri="{FF2B5EF4-FFF2-40B4-BE49-F238E27FC236}">
                <a16:creationId xmlns:a16="http://schemas.microsoft.com/office/drawing/2014/main" id="{35C39FE4-F286-3A38-A77E-C550E92C1CE0}"/>
              </a:ext>
            </a:extLst>
          </p:cNvPr>
          <p:cNvSpPr>
            <a:spLocks noGrp="1"/>
          </p:cNvSpPr>
          <p:nvPr>
            <p:ph idx="1"/>
          </p:nvPr>
        </p:nvSpPr>
        <p:spPr>
          <a:xfrm>
            <a:off x="644771" y="1265028"/>
            <a:ext cx="10715543" cy="4817119"/>
          </a:xfrm>
        </p:spPr>
        <p:txBody>
          <a:bodyPr vert="horz" lIns="91440" tIns="45720" rIns="91440" bIns="45720" rtlCol="0" anchor="t">
            <a:normAutofit fontScale="85000" lnSpcReduction="10000"/>
          </a:bodyPr>
          <a:lstStyle/>
          <a:p>
            <a:pPr algn="just">
              <a:lnSpc>
                <a:spcPct val="110000"/>
              </a:lnSpc>
            </a:pPr>
            <a:r>
              <a:rPr lang="en-US" dirty="0">
                <a:latin typeface="Arial Nova"/>
              </a:rPr>
              <a:t>Conducted a </a:t>
            </a:r>
            <a:r>
              <a:rPr lang="en-US" b="1" dirty="0">
                <a:latin typeface="Arial Nova"/>
              </a:rPr>
              <a:t>comprehensive, longitudinal analysis</a:t>
            </a:r>
            <a:r>
              <a:rPr lang="en-US" dirty="0">
                <a:latin typeface="Arial Nova"/>
              </a:rPr>
              <a:t> of global coffee production from </a:t>
            </a:r>
            <a:r>
              <a:rPr lang="en-US" b="1" dirty="0">
                <a:latin typeface="Arial Nova"/>
              </a:rPr>
              <a:t>years 1961–2022.</a:t>
            </a:r>
            <a:endParaRPr lang="en-US" dirty="0">
              <a:latin typeface="Arial Nova"/>
            </a:endParaRPr>
          </a:p>
          <a:p>
            <a:pPr algn="just">
              <a:lnSpc>
                <a:spcPct val="110000"/>
              </a:lnSpc>
            </a:pPr>
            <a:r>
              <a:rPr lang="en-US" dirty="0">
                <a:latin typeface="Arial Nova"/>
              </a:rPr>
              <a:t>Focused on </a:t>
            </a:r>
            <a:r>
              <a:rPr lang="en-US" b="1" dirty="0">
                <a:latin typeface="Arial Nova"/>
              </a:rPr>
              <a:t>regional comparisons</a:t>
            </a:r>
            <a:r>
              <a:rPr lang="en-US" dirty="0">
                <a:latin typeface="Arial Nova"/>
              </a:rPr>
              <a:t> among key coffee-producing continents: </a:t>
            </a:r>
            <a:r>
              <a:rPr lang="en-US" b="1" dirty="0">
                <a:latin typeface="Arial Nova"/>
              </a:rPr>
              <a:t>Africa, Americas, Asia, and Oceania.</a:t>
            </a:r>
          </a:p>
          <a:p>
            <a:pPr algn="just">
              <a:lnSpc>
                <a:spcPct val="110000"/>
              </a:lnSpc>
            </a:pPr>
            <a:r>
              <a:rPr lang="en-US" dirty="0">
                <a:latin typeface="Arial Nova"/>
              </a:rPr>
              <a:t>Utilized </a:t>
            </a:r>
            <a:r>
              <a:rPr lang="en-US" b="1" dirty="0">
                <a:latin typeface="Arial Nova"/>
              </a:rPr>
              <a:t>Microsoft Excel</a:t>
            </a:r>
            <a:r>
              <a:rPr lang="en-US" dirty="0">
                <a:latin typeface="Arial Nova"/>
              </a:rPr>
              <a:t> for data processing, cleaning, and building </a:t>
            </a:r>
            <a:r>
              <a:rPr lang="en-US" b="1" dirty="0">
                <a:latin typeface="Arial Nova"/>
              </a:rPr>
              <a:t>pivot tables</a:t>
            </a:r>
            <a:r>
              <a:rPr lang="en-US" dirty="0">
                <a:latin typeface="Arial Nova"/>
              </a:rPr>
              <a:t> for structured analysis.</a:t>
            </a:r>
            <a:endParaRPr lang="en-US" b="1" dirty="0">
              <a:latin typeface="Arial Nova"/>
            </a:endParaRPr>
          </a:p>
          <a:p>
            <a:pPr algn="just">
              <a:lnSpc>
                <a:spcPct val="110000"/>
              </a:lnSpc>
            </a:pPr>
            <a:r>
              <a:rPr lang="en-US" dirty="0">
                <a:latin typeface="Arial Nova"/>
              </a:rPr>
              <a:t>Applied </a:t>
            </a:r>
            <a:r>
              <a:rPr lang="en-US" b="1" dirty="0">
                <a:latin typeface="Arial Nova"/>
              </a:rPr>
              <a:t>feature engineering</a:t>
            </a:r>
            <a:r>
              <a:rPr lang="en-US" dirty="0">
                <a:latin typeface="Arial Nova"/>
              </a:rPr>
              <a:t> such as decade grouping, efficiency level categorization to simplify complex historical data.</a:t>
            </a:r>
          </a:p>
          <a:p>
            <a:pPr algn="just">
              <a:lnSpc>
                <a:spcPct val="110000"/>
              </a:lnSpc>
            </a:pPr>
            <a:r>
              <a:rPr lang="en-US" dirty="0">
                <a:latin typeface="Arial Nova"/>
              </a:rPr>
              <a:t>Developed </a:t>
            </a:r>
            <a:r>
              <a:rPr lang="en-US" b="1" dirty="0">
                <a:latin typeface="Arial Nova"/>
              </a:rPr>
              <a:t>dynamic visualizations</a:t>
            </a:r>
            <a:r>
              <a:rPr lang="en-US" dirty="0">
                <a:latin typeface="Arial Nova"/>
              </a:rPr>
              <a:t> like line charts, column charts, donut charts- to uncover </a:t>
            </a:r>
            <a:r>
              <a:rPr lang="en-US" b="1" dirty="0">
                <a:latin typeface="Arial Nova"/>
              </a:rPr>
              <a:t>patterns, anomalies, and regional disparities.</a:t>
            </a:r>
          </a:p>
          <a:p>
            <a:pPr algn="just">
              <a:lnSpc>
                <a:spcPct val="110000"/>
              </a:lnSpc>
            </a:pPr>
            <a:r>
              <a:rPr lang="en-US" dirty="0">
                <a:latin typeface="Arial Nova"/>
              </a:rPr>
              <a:t>Identified </a:t>
            </a:r>
            <a:r>
              <a:rPr lang="en-US" b="1" dirty="0">
                <a:latin typeface="Arial Nova"/>
              </a:rPr>
              <a:t>long-term trends</a:t>
            </a:r>
            <a:r>
              <a:rPr lang="en-US" dirty="0">
                <a:latin typeface="Arial Nova"/>
              </a:rPr>
              <a:t> such as increasing global production, Africa’s consistent yield lag, and shifts in continental dominance.</a:t>
            </a:r>
            <a:endParaRPr lang="en-US" b="1" dirty="0">
              <a:latin typeface="Arial Nova"/>
            </a:endParaRPr>
          </a:p>
          <a:p>
            <a:pPr algn="just">
              <a:lnSpc>
                <a:spcPct val="110000"/>
              </a:lnSpc>
            </a:pPr>
            <a:r>
              <a:rPr lang="en-US" dirty="0">
                <a:latin typeface="Arial Nova"/>
              </a:rPr>
              <a:t>Highlighted </a:t>
            </a:r>
            <a:r>
              <a:rPr lang="en-US" b="1" dirty="0">
                <a:latin typeface="Arial Nova"/>
              </a:rPr>
              <a:t>Africa’s unique challenges</a:t>
            </a:r>
            <a:r>
              <a:rPr lang="en-US" dirty="0">
                <a:latin typeface="Arial Nova"/>
              </a:rPr>
              <a:t> in the coffee trade, including low yield efficiency despite growing land use.</a:t>
            </a:r>
          </a:p>
          <a:p>
            <a:pPr algn="just">
              <a:lnSpc>
                <a:spcPct val="110000"/>
              </a:lnSpc>
            </a:pPr>
            <a:r>
              <a:rPr lang="en-US" dirty="0">
                <a:latin typeface="Arial Nova"/>
              </a:rPr>
              <a:t>Generated </a:t>
            </a:r>
            <a:r>
              <a:rPr lang="en-US" b="1" dirty="0">
                <a:latin typeface="Arial Nova"/>
              </a:rPr>
              <a:t>data-driven insights</a:t>
            </a:r>
            <a:r>
              <a:rPr lang="en-US" dirty="0">
                <a:latin typeface="Arial Nova"/>
              </a:rPr>
              <a:t> aimed at informing:</a:t>
            </a:r>
          </a:p>
          <a:p>
            <a:pPr marL="0" indent="0" algn="just">
              <a:lnSpc>
                <a:spcPct val="110000"/>
              </a:lnSpc>
              <a:buNone/>
            </a:pPr>
            <a:r>
              <a:rPr lang="en-US" b="1" dirty="0">
                <a:latin typeface="Arial Nova"/>
              </a:rPr>
              <a:t>   </a:t>
            </a:r>
            <a:r>
              <a:rPr lang="en-US" b="1" dirty="0">
                <a:solidFill>
                  <a:srgbClr val="E6832E"/>
                </a:solidFill>
                <a:latin typeface="Arial Nova"/>
              </a:rPr>
              <a:t>-</a:t>
            </a:r>
            <a:r>
              <a:rPr lang="en-US" b="1" dirty="0">
                <a:latin typeface="Arial Nova"/>
              </a:rPr>
              <a:t> Policy interventions- </a:t>
            </a:r>
            <a:r>
              <a:rPr lang="en-US" dirty="0">
                <a:latin typeface="Arial Nova"/>
              </a:rPr>
              <a:t>governmental reforms, farming incentives</a:t>
            </a:r>
            <a:endParaRPr lang="en-US" dirty="0"/>
          </a:p>
          <a:p>
            <a:pPr marL="0" indent="0" algn="just">
              <a:lnSpc>
                <a:spcPct val="110000"/>
              </a:lnSpc>
              <a:buNone/>
            </a:pPr>
            <a:r>
              <a:rPr lang="en-US" b="1" dirty="0">
                <a:latin typeface="Arial Nova"/>
              </a:rPr>
              <a:t>   </a:t>
            </a:r>
            <a:r>
              <a:rPr lang="en-US" b="1" dirty="0">
                <a:solidFill>
                  <a:srgbClr val="E6832E"/>
                </a:solidFill>
                <a:latin typeface="Arial Nova"/>
              </a:rPr>
              <a:t>-</a:t>
            </a:r>
            <a:r>
              <a:rPr lang="en-US" b="1" dirty="0">
                <a:latin typeface="Arial Nova"/>
              </a:rPr>
              <a:t> Investment strategies- </a:t>
            </a:r>
            <a:r>
              <a:rPr lang="en-US" dirty="0">
                <a:latin typeface="Arial Nova"/>
              </a:rPr>
              <a:t>agricultural technology, infrastructure</a:t>
            </a:r>
            <a:endParaRPr lang="en-US" dirty="0"/>
          </a:p>
          <a:p>
            <a:pPr marL="0" indent="0" algn="just">
              <a:lnSpc>
                <a:spcPct val="110000"/>
              </a:lnSpc>
              <a:buNone/>
            </a:pPr>
            <a:r>
              <a:rPr lang="en-US" b="1" dirty="0">
                <a:latin typeface="Arial Nova"/>
              </a:rPr>
              <a:t>   </a:t>
            </a:r>
            <a:r>
              <a:rPr lang="en-US" b="1" dirty="0">
                <a:solidFill>
                  <a:srgbClr val="E6832E"/>
                </a:solidFill>
                <a:latin typeface="Arial Nova"/>
              </a:rPr>
              <a:t>-</a:t>
            </a:r>
            <a:r>
              <a:rPr lang="en-US" b="1" dirty="0">
                <a:latin typeface="Arial Nova"/>
              </a:rPr>
              <a:t> Farmer support programs- </a:t>
            </a:r>
            <a:r>
              <a:rPr lang="en-US" dirty="0">
                <a:latin typeface="Arial Nova"/>
              </a:rPr>
              <a:t>education, mechanization, sustainability efforts</a:t>
            </a:r>
            <a:endParaRPr lang="en-US" dirty="0"/>
          </a:p>
          <a:p>
            <a:pPr algn="just">
              <a:lnSpc>
                <a:spcPct val="110000"/>
              </a:lnSpc>
            </a:pPr>
            <a:endParaRPr lang="en-US" dirty="0">
              <a:latin typeface="Arial Nova"/>
            </a:endParaRPr>
          </a:p>
        </p:txBody>
      </p:sp>
      <p:sp>
        <p:nvSpPr>
          <p:cNvPr id="3" name="Slide Number Placeholder 2">
            <a:extLst>
              <a:ext uri="{FF2B5EF4-FFF2-40B4-BE49-F238E27FC236}">
                <a16:creationId xmlns:a16="http://schemas.microsoft.com/office/drawing/2014/main" id="{66C77EAC-C238-0CC3-CB1F-33F85C9C3C44}"/>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1964280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4CD6-DDA1-E919-04CA-11DA3A7C72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70AE2D-400B-E672-80E2-EF760019687C}"/>
              </a:ext>
            </a:extLst>
          </p:cNvPr>
          <p:cNvSpPr>
            <a:spLocks noGrp="1"/>
          </p:cNvSpPr>
          <p:nvPr>
            <p:ph type="title"/>
          </p:nvPr>
        </p:nvSpPr>
        <p:spPr/>
        <p:txBody>
          <a:bodyPr/>
          <a:lstStyle/>
          <a:p>
            <a:r>
              <a:rPr lang="en-US">
                <a:latin typeface="Arial Nova Cond"/>
              </a:rPr>
              <a:t>Dataset Overview</a:t>
            </a:r>
            <a:endParaRPr lang="en-US"/>
          </a:p>
        </p:txBody>
      </p:sp>
      <p:sp>
        <p:nvSpPr>
          <p:cNvPr id="2" name="Content Placeholder 1">
            <a:extLst>
              <a:ext uri="{FF2B5EF4-FFF2-40B4-BE49-F238E27FC236}">
                <a16:creationId xmlns:a16="http://schemas.microsoft.com/office/drawing/2014/main" id="{5CE05A67-6332-D34C-C752-3A945F1C3F4B}"/>
              </a:ext>
            </a:extLst>
          </p:cNvPr>
          <p:cNvSpPr>
            <a:spLocks noGrp="1"/>
          </p:cNvSpPr>
          <p:nvPr>
            <p:ph sz="half" idx="1"/>
          </p:nvPr>
        </p:nvSpPr>
        <p:spPr>
          <a:xfrm>
            <a:off x="644769" y="1217424"/>
            <a:ext cx="5391324" cy="4959540"/>
          </a:xfrm>
        </p:spPr>
        <p:txBody>
          <a:bodyPr vert="horz" lIns="91440" tIns="45720" rIns="91440" bIns="45720" rtlCol="0" anchor="t">
            <a:noAutofit/>
          </a:bodyPr>
          <a:lstStyle/>
          <a:p>
            <a:pPr algn="just">
              <a:lnSpc>
                <a:spcPct val="100000"/>
              </a:lnSpc>
            </a:pPr>
            <a:r>
              <a:rPr lang="en-US" sz="1200" dirty="0">
                <a:latin typeface="Arial Nova"/>
              </a:rPr>
              <a:t>Used FAOSTAT Coffee Production Dataset (available on Kaggle).</a:t>
            </a:r>
            <a:endParaRPr lang="en-US" sz="1200" dirty="0"/>
          </a:p>
          <a:p>
            <a:pPr algn="just">
              <a:lnSpc>
                <a:spcPct val="100000"/>
              </a:lnSpc>
            </a:pPr>
            <a:r>
              <a:rPr lang="en-US" sz="1200" dirty="0">
                <a:latin typeface="Arial Nova"/>
              </a:rPr>
              <a:t>From FAOSTAT Kaggle data used dataset is </a:t>
            </a:r>
            <a:r>
              <a:rPr lang="en-US" sz="1200" b="1" dirty="0">
                <a:latin typeface="Arial Nova"/>
              </a:rPr>
              <a:t>Coffee_Production_1961-2022.csv's</a:t>
            </a:r>
            <a:r>
              <a:rPr lang="en-US" sz="1200" dirty="0">
                <a:latin typeface="Arial Nova"/>
              </a:rPr>
              <a:t> detailed coffee production records from </a:t>
            </a:r>
            <a:r>
              <a:rPr lang="en-US" sz="1200" b="1" dirty="0">
                <a:latin typeface="Arial Nova"/>
              </a:rPr>
              <a:t>1961 to 2022.</a:t>
            </a:r>
          </a:p>
          <a:p>
            <a:pPr algn="just">
              <a:lnSpc>
                <a:spcPct val="100000"/>
              </a:lnSpc>
            </a:pPr>
            <a:r>
              <a:rPr lang="en-US" sz="1200" dirty="0">
                <a:latin typeface="Arial Nova"/>
              </a:rPr>
              <a:t>The data size is approximately 7 attributes (columns) and 4819 rows.</a:t>
            </a:r>
          </a:p>
          <a:p>
            <a:pPr algn="just">
              <a:lnSpc>
                <a:spcPct val="100000"/>
              </a:lnSpc>
            </a:pPr>
            <a:r>
              <a:rPr lang="en-US" sz="1200" dirty="0">
                <a:latin typeface="Arial Nova"/>
              </a:rPr>
              <a:t>Attributes in the dataset:</a:t>
            </a:r>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a:latin typeface="Arial Nova"/>
              </a:rPr>
              <a:t>Area:</a:t>
            </a:r>
            <a:r>
              <a:rPr lang="en-US" sz="1200" dirty="0">
                <a:latin typeface="Arial Nova"/>
              </a:rPr>
              <a:t> Total geographical land area of the country.</a:t>
            </a:r>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a:latin typeface="Arial Nova"/>
              </a:rPr>
              <a:t>Year:</a:t>
            </a:r>
            <a:r>
              <a:rPr lang="en-US" sz="1200" dirty="0">
                <a:latin typeface="Arial Nova"/>
              </a:rPr>
              <a:t> Year of record (1961 - 2022).</a:t>
            </a:r>
            <a:endParaRPr lang="en-US" sz="1200" dirty="0"/>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a:latin typeface="Arial Nova"/>
              </a:rPr>
              <a:t>Production.t:</a:t>
            </a:r>
            <a:r>
              <a:rPr lang="en-US" sz="1200" dirty="0">
                <a:latin typeface="Arial Nova"/>
              </a:rPr>
              <a:t> Total coffee production (tons).</a:t>
            </a:r>
            <a:endParaRPr lang="en-US" sz="1200" dirty="0"/>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err="1">
                <a:latin typeface="Arial Nova"/>
              </a:rPr>
              <a:t>Area.harvested</a:t>
            </a:r>
            <a:r>
              <a:rPr lang="en-US" sz="1200" b="1" dirty="0">
                <a:latin typeface="Arial Nova"/>
              </a:rPr>
              <a:t>:</a:t>
            </a:r>
            <a:r>
              <a:rPr lang="en-US" sz="1200" dirty="0">
                <a:latin typeface="Arial Nova"/>
              </a:rPr>
              <a:t> Hectares of land harvested for coffee.</a:t>
            </a:r>
            <a:endParaRPr lang="en-US" sz="1200" dirty="0"/>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err="1">
                <a:latin typeface="Arial Nova"/>
              </a:rPr>
              <a:t>Production.yield</a:t>
            </a:r>
            <a:r>
              <a:rPr lang="en-US" sz="1200" b="1" dirty="0">
                <a:latin typeface="Arial Nova"/>
              </a:rPr>
              <a:t>:</a:t>
            </a:r>
            <a:r>
              <a:rPr lang="en-US" sz="1200" dirty="0">
                <a:latin typeface="Arial Nova"/>
              </a:rPr>
              <a:t> Yield per hectare (tons/hectare).</a:t>
            </a:r>
            <a:endParaRPr lang="en-US" sz="1200" dirty="0"/>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a:latin typeface="Arial Nova"/>
              </a:rPr>
              <a:t>Continent:</a:t>
            </a:r>
            <a:r>
              <a:rPr lang="en-US" sz="1200" dirty="0">
                <a:latin typeface="Arial Nova"/>
              </a:rPr>
              <a:t> Continent categorization (Africa, Americas, Asia, Oceania).</a:t>
            </a:r>
            <a:endParaRPr lang="en-US" sz="1200" dirty="0"/>
          </a:p>
          <a:p>
            <a:pPr marL="0" indent="0" algn="just">
              <a:lnSpc>
                <a:spcPct val="100000"/>
              </a:lnSpc>
              <a:buNone/>
            </a:pPr>
            <a:r>
              <a:rPr lang="en-US" sz="1200" b="1" dirty="0">
                <a:latin typeface="Arial Nova"/>
              </a:rPr>
              <a:t>  </a:t>
            </a:r>
            <a:r>
              <a:rPr lang="en-US" sz="1200" b="1" dirty="0">
                <a:solidFill>
                  <a:srgbClr val="E6832E"/>
                </a:solidFill>
                <a:latin typeface="Arial Nova"/>
              </a:rPr>
              <a:t>- </a:t>
            </a:r>
            <a:r>
              <a:rPr lang="en-US" sz="1200" b="1" dirty="0">
                <a:latin typeface="Arial Nova"/>
              </a:rPr>
              <a:t>Region:</a:t>
            </a:r>
            <a:r>
              <a:rPr lang="en-US" sz="1200" dirty="0">
                <a:latin typeface="Arial Nova"/>
              </a:rPr>
              <a:t> Regional categorization.</a:t>
            </a:r>
          </a:p>
          <a:p>
            <a:pPr algn="just">
              <a:lnSpc>
                <a:spcPct val="100000"/>
              </a:lnSpc>
            </a:pPr>
            <a:r>
              <a:rPr lang="en-US" sz="1200" dirty="0">
                <a:latin typeface="Arial Nova"/>
              </a:rPr>
              <a:t>Data Characteristics:</a:t>
            </a:r>
            <a:endParaRPr lang="en-US" sz="1200" dirty="0"/>
          </a:p>
          <a:p>
            <a:pPr marL="0" indent="0" algn="just">
              <a:lnSpc>
                <a:spcPct val="100000"/>
              </a:lnSpc>
              <a:buNone/>
            </a:pPr>
            <a:r>
              <a:rPr lang="en-US" sz="1200" dirty="0">
                <a:latin typeface="Arial Nova"/>
              </a:rPr>
              <a:t>  </a:t>
            </a:r>
            <a:r>
              <a:rPr lang="en-US" sz="1200" dirty="0">
                <a:solidFill>
                  <a:srgbClr val="E6832E"/>
                </a:solidFill>
                <a:latin typeface="Arial Nova"/>
              </a:rPr>
              <a:t>-</a:t>
            </a:r>
            <a:r>
              <a:rPr lang="en-US" sz="1200" dirty="0">
                <a:latin typeface="Arial Nova"/>
              </a:rPr>
              <a:t> Global scope covering major coffee-producing regions.</a:t>
            </a:r>
            <a:endParaRPr lang="en-US" sz="1200" dirty="0"/>
          </a:p>
          <a:p>
            <a:pPr marL="0" indent="0" algn="just">
              <a:lnSpc>
                <a:spcPct val="100000"/>
              </a:lnSpc>
              <a:buNone/>
            </a:pPr>
            <a:r>
              <a:rPr lang="en-US" sz="1200" dirty="0">
                <a:latin typeface="Arial Nova"/>
              </a:rPr>
              <a:t>  </a:t>
            </a:r>
            <a:r>
              <a:rPr lang="en-US" sz="1200" dirty="0">
                <a:solidFill>
                  <a:srgbClr val="E6832E"/>
                </a:solidFill>
                <a:latin typeface="Arial Nova"/>
              </a:rPr>
              <a:t>-</a:t>
            </a:r>
            <a:r>
              <a:rPr lang="en-US" sz="1200" dirty="0">
                <a:latin typeface="Arial Nova"/>
              </a:rPr>
              <a:t> Multi-metric tracking of production quantity, land use, and productivity.</a:t>
            </a:r>
            <a:endParaRPr lang="en-US" sz="1200" dirty="0"/>
          </a:p>
          <a:p>
            <a:pPr marL="0" indent="0" algn="just">
              <a:lnSpc>
                <a:spcPct val="100000"/>
              </a:lnSpc>
              <a:buNone/>
            </a:pPr>
            <a:r>
              <a:rPr lang="en-US" sz="1200" dirty="0">
                <a:latin typeface="Arial Nova"/>
              </a:rPr>
              <a:t>  </a:t>
            </a:r>
            <a:r>
              <a:rPr lang="en-US" sz="1200" dirty="0">
                <a:solidFill>
                  <a:srgbClr val="E6832E"/>
                </a:solidFill>
                <a:latin typeface="Arial Nova"/>
              </a:rPr>
              <a:t>-</a:t>
            </a:r>
            <a:r>
              <a:rPr lang="en-US" sz="1200" dirty="0">
                <a:latin typeface="Arial Nova"/>
              </a:rPr>
              <a:t> Consistent recording over 61 years.</a:t>
            </a:r>
            <a:endParaRPr lang="en-US" sz="1200" dirty="0"/>
          </a:p>
          <a:p>
            <a:pPr marL="285750" indent="-285750" algn="just">
              <a:lnSpc>
                <a:spcPct val="100000"/>
              </a:lnSpc>
            </a:pPr>
            <a:endParaRPr lang="en-US" sz="1200" dirty="0">
              <a:latin typeface="Arial Nova"/>
            </a:endParaRPr>
          </a:p>
        </p:txBody>
      </p:sp>
      <p:pic>
        <p:nvPicPr>
          <p:cNvPr id="6" name="Content Placeholder 5" descr="A screenshot of a computer&#10;&#10;AI-generated content may be incorrect.">
            <a:extLst>
              <a:ext uri="{FF2B5EF4-FFF2-40B4-BE49-F238E27FC236}">
                <a16:creationId xmlns:a16="http://schemas.microsoft.com/office/drawing/2014/main" id="{5E848690-A1C6-7007-5411-26626DFA6B2D}"/>
              </a:ext>
            </a:extLst>
          </p:cNvPr>
          <p:cNvPicPr>
            <a:picLocks noGrp="1" noChangeAspect="1"/>
          </p:cNvPicPr>
          <p:nvPr>
            <p:ph sz="half" idx="2"/>
          </p:nvPr>
        </p:nvPicPr>
        <p:blipFill>
          <a:blip r:embed="rId2"/>
          <a:stretch>
            <a:fillRect/>
          </a:stretch>
        </p:blipFill>
        <p:spPr>
          <a:xfrm>
            <a:off x="6109284" y="1211189"/>
            <a:ext cx="5244516" cy="4972008"/>
          </a:xfrm>
        </p:spPr>
      </p:pic>
      <p:sp>
        <p:nvSpPr>
          <p:cNvPr id="3" name="Slide Number Placeholder 2">
            <a:extLst>
              <a:ext uri="{FF2B5EF4-FFF2-40B4-BE49-F238E27FC236}">
                <a16:creationId xmlns:a16="http://schemas.microsoft.com/office/drawing/2014/main" id="{8AD18781-D59E-37A6-5FDB-869870210B48}"/>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3607855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0E526-60B1-328E-A1BB-8EC609F9E9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8CC1E3-AC60-8F1C-454C-E44599F503DA}"/>
              </a:ext>
            </a:extLst>
          </p:cNvPr>
          <p:cNvSpPr>
            <a:spLocks noGrp="1"/>
          </p:cNvSpPr>
          <p:nvPr>
            <p:ph type="title"/>
          </p:nvPr>
        </p:nvSpPr>
        <p:spPr/>
        <p:txBody>
          <a:bodyPr/>
          <a:lstStyle/>
          <a:p>
            <a:r>
              <a:rPr lang="en-US">
                <a:latin typeface="Arial Nova Cond"/>
              </a:rPr>
              <a:t>Data Analysis &amp; Visualization </a:t>
            </a:r>
            <a:endParaRPr lang="en-US"/>
          </a:p>
        </p:txBody>
      </p:sp>
      <p:pic>
        <p:nvPicPr>
          <p:cNvPr id="6" name="Content Placeholder 5" descr="A screenshot of a computer screen&#10;&#10;AI-generated content may be incorrect.">
            <a:extLst>
              <a:ext uri="{FF2B5EF4-FFF2-40B4-BE49-F238E27FC236}">
                <a16:creationId xmlns:a16="http://schemas.microsoft.com/office/drawing/2014/main" id="{7A81F25B-F989-F516-7F8D-A8365041F082}"/>
              </a:ext>
            </a:extLst>
          </p:cNvPr>
          <p:cNvPicPr>
            <a:picLocks noGrp="1" noChangeAspect="1"/>
          </p:cNvPicPr>
          <p:nvPr>
            <p:ph sz="half" idx="1"/>
          </p:nvPr>
        </p:nvPicPr>
        <p:blipFill>
          <a:blip r:embed="rId2"/>
          <a:stretch>
            <a:fillRect/>
          </a:stretch>
        </p:blipFill>
        <p:spPr>
          <a:xfrm>
            <a:off x="644769" y="1216320"/>
            <a:ext cx="4943912" cy="4996702"/>
          </a:xfrm>
        </p:spPr>
      </p:pic>
      <p:sp>
        <p:nvSpPr>
          <p:cNvPr id="5" name="Content Placeholder 4">
            <a:extLst>
              <a:ext uri="{FF2B5EF4-FFF2-40B4-BE49-F238E27FC236}">
                <a16:creationId xmlns:a16="http://schemas.microsoft.com/office/drawing/2014/main" id="{D557C7E2-1DC5-933F-35F9-CF73BE98E238}"/>
              </a:ext>
            </a:extLst>
          </p:cNvPr>
          <p:cNvSpPr>
            <a:spLocks noGrp="1"/>
          </p:cNvSpPr>
          <p:nvPr>
            <p:ph sz="half" idx="2"/>
          </p:nvPr>
        </p:nvSpPr>
        <p:spPr>
          <a:xfrm>
            <a:off x="5689834" y="1217424"/>
            <a:ext cx="6174295" cy="5239173"/>
          </a:xfrm>
        </p:spPr>
        <p:txBody>
          <a:bodyPr vert="horz" lIns="91440" tIns="45720" rIns="91440" bIns="45720" rtlCol="0" anchor="t">
            <a:noAutofit/>
          </a:bodyPr>
          <a:lstStyle/>
          <a:p>
            <a:pPr algn="just">
              <a:lnSpc>
                <a:spcPct val="100000"/>
              </a:lnSpc>
            </a:pPr>
            <a:r>
              <a:rPr lang="en-US" sz="1400" dirty="0">
                <a:latin typeface="Arial Nova"/>
              </a:rPr>
              <a:t>Microsoft Excel for complete data cleaning, transformation, and analysis.</a:t>
            </a:r>
            <a:endParaRPr lang="en-US" sz="1400" dirty="0"/>
          </a:p>
          <a:p>
            <a:pPr algn="just">
              <a:lnSpc>
                <a:spcPct val="100000"/>
              </a:lnSpc>
            </a:pPr>
            <a:r>
              <a:rPr lang="en-US" sz="1400" b="1" dirty="0">
                <a:latin typeface="Arial Nova"/>
              </a:rPr>
              <a:t>Data Preparation:</a:t>
            </a:r>
            <a:endParaRPr lang="en-US" sz="1400" dirty="0">
              <a:latin typeface="Arial Nova"/>
            </a:endParaRP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Handled missing or inconsistent values by interpolation or exclusion.</a:t>
            </a: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Standardized all units across the dataset (tons for production, hectares for harvested area). Structured data into a </a:t>
            </a:r>
            <a:r>
              <a:rPr lang="en-US" sz="1400" b="1" dirty="0">
                <a:latin typeface="Arial Nova"/>
              </a:rPr>
              <a:t>dynamic Excel Table</a:t>
            </a:r>
            <a:r>
              <a:rPr lang="en-US" sz="1400" dirty="0">
                <a:latin typeface="Arial Nova"/>
              </a:rPr>
              <a:t> for easier manipulation and referencing.</a:t>
            </a:r>
          </a:p>
          <a:p>
            <a:pPr algn="just">
              <a:lnSpc>
                <a:spcPct val="100000"/>
              </a:lnSpc>
            </a:pPr>
            <a:r>
              <a:rPr lang="en-US" sz="1400" b="1" dirty="0">
                <a:latin typeface="Arial Nova"/>
              </a:rPr>
              <a:t>Feature Engineering:</a:t>
            </a:r>
          </a:p>
          <a:p>
            <a:pPr marL="0" indent="0" algn="just">
              <a:lnSpc>
                <a:spcPct val="100000"/>
              </a:lnSpc>
              <a:spcBef>
                <a:spcPts val="300"/>
              </a:spcBef>
              <a:buNone/>
            </a:pPr>
            <a:r>
              <a:rPr lang="en-US" sz="1400" b="1" dirty="0">
                <a:latin typeface="Arial Nova"/>
              </a:rPr>
              <a:t> </a:t>
            </a:r>
            <a:r>
              <a:rPr lang="en-US" sz="1400" dirty="0">
                <a:solidFill>
                  <a:srgbClr val="E6832E"/>
                </a:solidFill>
                <a:latin typeface="Arial Nova"/>
              </a:rPr>
              <a:t>- </a:t>
            </a:r>
            <a:r>
              <a:rPr lang="en-US" sz="1400" dirty="0">
                <a:latin typeface="Arial Nova"/>
              </a:rPr>
              <a:t>Created a new </a:t>
            </a:r>
            <a:r>
              <a:rPr lang="en-US" sz="1400" b="1" dirty="0">
                <a:latin typeface="Arial Nova"/>
              </a:rPr>
              <a:t>Decade</a:t>
            </a:r>
            <a:r>
              <a:rPr lang="en-US" sz="1400" dirty="0">
                <a:latin typeface="Arial Nova"/>
              </a:rPr>
              <a:t> column to group years into 10-year intervals (e.g., 1960s, 1970s).</a:t>
            </a: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Developed a conditional formula to classify production efficiency into three categories like High, Medium, and Low efficiency.</a:t>
            </a:r>
            <a:endParaRPr lang="en-US" sz="1400" dirty="0"/>
          </a:p>
          <a:p>
            <a:pPr algn="just">
              <a:lnSpc>
                <a:spcPct val="100000"/>
              </a:lnSpc>
            </a:pPr>
            <a:r>
              <a:rPr lang="en-US" sz="1400" b="1" dirty="0">
                <a:latin typeface="Arial Nova"/>
              </a:rPr>
              <a:t>Analysis Techniques:</a:t>
            </a:r>
            <a:endParaRPr lang="en-US" sz="1400" dirty="0">
              <a:latin typeface="Arial Nova"/>
            </a:endParaRP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Built multiple </a:t>
            </a:r>
            <a:r>
              <a:rPr lang="en-US" sz="1400" b="1" dirty="0">
                <a:latin typeface="Arial Nova"/>
              </a:rPr>
              <a:t>Pivot Tables</a:t>
            </a:r>
            <a:r>
              <a:rPr lang="en-US" sz="1400" dirty="0">
                <a:latin typeface="Arial Nova"/>
              </a:rPr>
              <a:t> to summarize production, yield, area harvested, and regional trends.</a:t>
            </a: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Applied </a:t>
            </a:r>
            <a:r>
              <a:rPr lang="en-US" sz="1400" b="1" dirty="0">
                <a:latin typeface="Arial Nova"/>
              </a:rPr>
              <a:t>slicers</a:t>
            </a:r>
            <a:r>
              <a:rPr lang="en-US" sz="1400" dirty="0">
                <a:latin typeface="Arial Nova"/>
              </a:rPr>
              <a:t> for interactive filtering by continent and year.</a:t>
            </a: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Used </a:t>
            </a:r>
            <a:r>
              <a:rPr lang="en-US" sz="1400" b="1" dirty="0">
                <a:latin typeface="Arial Nova"/>
              </a:rPr>
              <a:t>conditional formatting</a:t>
            </a:r>
            <a:r>
              <a:rPr lang="en-US" sz="1400" dirty="0">
                <a:latin typeface="Arial Nova"/>
              </a:rPr>
              <a:t> to highlight performance highs, lows, and anomalies.</a:t>
            </a:r>
          </a:p>
          <a:p>
            <a:pPr algn="just">
              <a:lnSpc>
                <a:spcPct val="100000"/>
              </a:lnSpc>
            </a:pPr>
            <a:r>
              <a:rPr lang="en-US" sz="1400" b="1" dirty="0">
                <a:latin typeface="Arial Nova"/>
              </a:rPr>
              <a:t>Visualization Techniques:</a:t>
            </a:r>
            <a:endParaRPr lang="en-US" sz="1400" dirty="0">
              <a:latin typeface="Arial Nova"/>
            </a:endParaRPr>
          </a:p>
          <a:p>
            <a:pPr marL="0" indent="0" algn="just">
              <a:lnSpc>
                <a:spcPct val="100000"/>
              </a:lnSpc>
              <a:spcBef>
                <a:spcPts val="300"/>
              </a:spcBef>
              <a:buNone/>
            </a:pPr>
            <a:r>
              <a:rPr lang="en-US" sz="1400" dirty="0">
                <a:latin typeface="Arial Nova"/>
              </a:rPr>
              <a:t> </a:t>
            </a:r>
            <a:r>
              <a:rPr lang="en-US" sz="1400" dirty="0">
                <a:solidFill>
                  <a:srgbClr val="E6832E"/>
                </a:solidFill>
                <a:latin typeface="Arial Nova"/>
              </a:rPr>
              <a:t>- </a:t>
            </a:r>
            <a:r>
              <a:rPr lang="en-US" sz="1400" dirty="0">
                <a:latin typeface="Arial Nova"/>
              </a:rPr>
              <a:t>Developed </a:t>
            </a:r>
            <a:r>
              <a:rPr lang="en-US" sz="1400" b="1" dirty="0">
                <a:latin typeface="Arial Nova"/>
              </a:rPr>
              <a:t>dynamic charts</a:t>
            </a:r>
            <a:r>
              <a:rPr lang="en-US" sz="1400" dirty="0">
                <a:latin typeface="Arial Nova"/>
              </a:rPr>
              <a:t> like line, column, doughnut - to clearly present findings and insights.</a:t>
            </a:r>
          </a:p>
          <a:p>
            <a:pPr marL="0" indent="0" algn="just">
              <a:lnSpc>
                <a:spcPct val="100000"/>
              </a:lnSpc>
              <a:buNone/>
            </a:pPr>
            <a:endParaRPr lang="en-US" sz="1100" dirty="0">
              <a:latin typeface="Arial Nova"/>
            </a:endParaRPr>
          </a:p>
          <a:p>
            <a:pPr marL="0" indent="0" algn="just">
              <a:lnSpc>
                <a:spcPct val="100000"/>
              </a:lnSpc>
              <a:buNone/>
            </a:pPr>
            <a:endParaRPr lang="en-US" sz="1100" dirty="0"/>
          </a:p>
          <a:p>
            <a:pPr marL="285750" indent="-285750" algn="just">
              <a:lnSpc>
                <a:spcPct val="100000"/>
              </a:lnSpc>
            </a:pPr>
            <a:endParaRPr lang="en-US" sz="1100" dirty="0"/>
          </a:p>
        </p:txBody>
      </p:sp>
      <p:sp>
        <p:nvSpPr>
          <p:cNvPr id="3" name="Slide Number Placeholder 2">
            <a:extLst>
              <a:ext uri="{FF2B5EF4-FFF2-40B4-BE49-F238E27FC236}">
                <a16:creationId xmlns:a16="http://schemas.microsoft.com/office/drawing/2014/main" id="{3BBA6911-28B3-4D55-E086-A593A537E069}"/>
              </a:ext>
            </a:extLst>
          </p:cNvPr>
          <p:cNvSpPr>
            <a:spLocks noGrp="1"/>
          </p:cNvSpPr>
          <p:nvPr>
            <p:ph type="sldNum" sz="quarter" idx="12"/>
          </p:nvPr>
        </p:nvSpPr>
        <p:spPr/>
        <p:txBody>
          <a:bodyPr/>
          <a:lstStyle/>
          <a:p>
            <a:fld id="{4267CD5E-26CF-4249-8540-BB1D07FD4227}" type="slidenum">
              <a:rPr lang="en-US" smtClean="0"/>
              <a:t>6</a:t>
            </a:fld>
            <a:endParaRPr lang="en-US"/>
          </a:p>
        </p:txBody>
      </p:sp>
    </p:spTree>
    <p:extLst>
      <p:ext uri="{BB962C8B-B14F-4D97-AF65-F5344CB8AC3E}">
        <p14:creationId xmlns:p14="http://schemas.microsoft.com/office/powerpoint/2010/main" val="4064288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488A-B6EA-57F5-AC7F-4D54249CAE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AC11AD-FE50-398C-AC34-DB93B21303F2}"/>
              </a:ext>
            </a:extLst>
          </p:cNvPr>
          <p:cNvSpPr>
            <a:spLocks noGrp="1"/>
          </p:cNvSpPr>
          <p:nvPr>
            <p:ph type="title"/>
          </p:nvPr>
        </p:nvSpPr>
        <p:spPr/>
        <p:txBody>
          <a:bodyPr anchor="t">
            <a:normAutofit/>
          </a:bodyPr>
          <a:lstStyle/>
          <a:p>
            <a:r>
              <a:rPr lang="en-US" dirty="0"/>
              <a:t>Total Coffee Production by Country</a:t>
            </a:r>
          </a:p>
        </p:txBody>
      </p:sp>
      <p:sp>
        <p:nvSpPr>
          <p:cNvPr id="6" name="Content Placeholder 5">
            <a:extLst>
              <a:ext uri="{FF2B5EF4-FFF2-40B4-BE49-F238E27FC236}">
                <a16:creationId xmlns:a16="http://schemas.microsoft.com/office/drawing/2014/main" id="{4B500BFE-B14C-2245-DF68-9AEBB693F399}"/>
              </a:ext>
            </a:extLst>
          </p:cNvPr>
          <p:cNvSpPr>
            <a:spLocks noGrp="1"/>
          </p:cNvSpPr>
          <p:nvPr>
            <p:ph sz="half" idx="1"/>
          </p:nvPr>
        </p:nvSpPr>
        <p:spPr>
          <a:xfrm>
            <a:off x="644769" y="1368652"/>
            <a:ext cx="5181600" cy="4808312"/>
          </a:xfrm>
        </p:spPr>
        <p:txBody>
          <a:bodyPr vert="horz" lIns="91440" tIns="45720" rIns="91440" bIns="45720" rtlCol="0" anchor="t">
            <a:normAutofit/>
          </a:bodyPr>
          <a:lstStyle/>
          <a:p>
            <a:pPr algn="just">
              <a:lnSpc>
                <a:spcPct val="100000"/>
              </a:lnSpc>
            </a:pPr>
            <a:r>
              <a:rPr lang="en-US" dirty="0">
                <a:latin typeface="Arial Nova"/>
              </a:rPr>
              <a:t>From the column chart </a:t>
            </a:r>
            <a:r>
              <a:rPr lang="en-US" b="1" dirty="0">
                <a:latin typeface="Arial Nova"/>
              </a:rPr>
              <a:t>Brazil, Vietnam </a:t>
            </a:r>
            <a:r>
              <a:rPr lang="en-US" dirty="0">
                <a:latin typeface="Arial Nova"/>
              </a:rPr>
              <a:t>and </a:t>
            </a:r>
            <a:r>
              <a:rPr lang="en-US" b="1" dirty="0">
                <a:latin typeface="Arial Nova"/>
              </a:rPr>
              <a:t>Colombia </a:t>
            </a:r>
            <a:r>
              <a:rPr lang="en-US" dirty="0">
                <a:latin typeface="Arial Nova"/>
              </a:rPr>
              <a:t>lead global coffee production by large margins.</a:t>
            </a:r>
            <a:endParaRPr lang="en-US" dirty="0"/>
          </a:p>
          <a:p>
            <a:pPr algn="just">
              <a:lnSpc>
                <a:spcPct val="100000"/>
              </a:lnSpc>
            </a:pPr>
            <a:r>
              <a:rPr lang="en-US" dirty="0">
                <a:latin typeface="Arial Nova"/>
              </a:rPr>
              <a:t>African countries produce much less compared to global leaders.</a:t>
            </a:r>
          </a:p>
          <a:p>
            <a:pPr algn="just">
              <a:lnSpc>
                <a:spcPct val="100000"/>
              </a:lnSpc>
            </a:pPr>
            <a:r>
              <a:rPr lang="en-US" dirty="0">
                <a:latin typeface="Arial Nova"/>
              </a:rPr>
              <a:t>Ethiopia and Uganda are strong regionally but </a:t>
            </a:r>
            <a:r>
              <a:rPr lang="en-US" b="1" dirty="0">
                <a:latin typeface="Arial Nova"/>
              </a:rPr>
              <a:t>lag behind</a:t>
            </a:r>
            <a:r>
              <a:rPr lang="en-US" dirty="0">
                <a:latin typeface="Arial Nova"/>
              </a:rPr>
              <a:t> internationally.</a:t>
            </a:r>
            <a:endParaRPr lang="en-US" dirty="0"/>
          </a:p>
          <a:p>
            <a:pPr algn="just">
              <a:lnSpc>
                <a:spcPct val="100000"/>
              </a:lnSpc>
            </a:pPr>
            <a:r>
              <a:rPr lang="en-US" dirty="0">
                <a:latin typeface="Arial Nova"/>
              </a:rPr>
              <a:t>Global leaders benefit from </a:t>
            </a:r>
            <a:r>
              <a:rPr lang="en-US" b="1" dirty="0">
                <a:latin typeface="Arial Nova"/>
              </a:rPr>
              <a:t>advanced technologies</a:t>
            </a:r>
            <a:r>
              <a:rPr lang="en-US" dirty="0">
                <a:latin typeface="Arial Nova"/>
              </a:rPr>
              <a:t> and </a:t>
            </a:r>
            <a:r>
              <a:rPr lang="en-US" b="1" dirty="0">
                <a:latin typeface="Arial Nova"/>
              </a:rPr>
              <a:t>higher yield efficiencies.</a:t>
            </a:r>
            <a:endParaRPr lang="en-US" dirty="0"/>
          </a:p>
        </p:txBody>
      </p:sp>
      <p:pic>
        <p:nvPicPr>
          <p:cNvPr id="10" name="Content Placeholder 9">
            <a:extLst>
              <a:ext uri="{FF2B5EF4-FFF2-40B4-BE49-F238E27FC236}">
                <a16:creationId xmlns:a16="http://schemas.microsoft.com/office/drawing/2014/main" id="{A39A8072-6136-A4D1-D0FF-6EC03BBB7103}"/>
              </a:ext>
            </a:extLst>
          </p:cNvPr>
          <p:cNvPicPr>
            <a:picLocks noGrp="1" noChangeAspect="1"/>
          </p:cNvPicPr>
          <p:nvPr>
            <p:ph sz="half" idx="2"/>
          </p:nvPr>
        </p:nvPicPr>
        <p:blipFill>
          <a:blip r:embed="rId2"/>
          <a:stretch>
            <a:fillRect/>
          </a:stretch>
        </p:blipFill>
        <p:spPr>
          <a:xfrm>
            <a:off x="6096738" y="1359718"/>
            <a:ext cx="5480768" cy="3699462"/>
          </a:xfrm>
        </p:spPr>
      </p:pic>
      <p:sp>
        <p:nvSpPr>
          <p:cNvPr id="3" name="Slide Number Placeholder 2">
            <a:extLst>
              <a:ext uri="{FF2B5EF4-FFF2-40B4-BE49-F238E27FC236}">
                <a16:creationId xmlns:a16="http://schemas.microsoft.com/office/drawing/2014/main" id="{F6A2AF3B-17ED-2884-CC9B-ADE0529D5F16}"/>
              </a:ext>
            </a:extLst>
          </p:cNvPr>
          <p:cNvSpPr>
            <a:spLocks noGrp="1"/>
          </p:cNvSpPr>
          <p:nvPr>
            <p:ph type="sldNum" sz="quarter" idx="12"/>
          </p:nvPr>
        </p:nvSpPr>
        <p:spPr/>
        <p:txBody>
          <a:bodyPr anchor="ctr">
            <a:normAutofit/>
          </a:bodyPr>
          <a:lstStyle/>
          <a:p>
            <a:pPr>
              <a:spcAft>
                <a:spcPts val="600"/>
              </a:spcAft>
            </a:pPr>
            <a:fld id="{4267CD5E-26CF-4249-8540-BB1D07FD4227}" type="slidenum">
              <a:rPr lang="en-US" smtClean="0"/>
              <a:pPr>
                <a:spcAft>
                  <a:spcPts val="600"/>
                </a:spcAft>
              </a:pPr>
              <a:t>7</a:t>
            </a:fld>
            <a:endParaRPr lang="en-US"/>
          </a:p>
        </p:txBody>
      </p:sp>
    </p:spTree>
    <p:extLst>
      <p:ext uri="{BB962C8B-B14F-4D97-AF65-F5344CB8AC3E}">
        <p14:creationId xmlns:p14="http://schemas.microsoft.com/office/powerpoint/2010/main" val="225345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C65B9-E443-AB2B-3586-A3A4ADD2F8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B9ED90-F3A2-DC37-4018-32DCF3D41768}"/>
              </a:ext>
            </a:extLst>
          </p:cNvPr>
          <p:cNvSpPr>
            <a:spLocks noGrp="1"/>
          </p:cNvSpPr>
          <p:nvPr>
            <p:ph type="title"/>
          </p:nvPr>
        </p:nvSpPr>
        <p:spPr/>
        <p:txBody>
          <a:bodyPr>
            <a:normAutofit/>
          </a:bodyPr>
          <a:lstStyle/>
          <a:p>
            <a:r>
              <a:rPr lang="en-US" dirty="0">
                <a:latin typeface="Arial Nova Cond"/>
              </a:rPr>
              <a:t>Global Production Trends Over Time (year)</a:t>
            </a:r>
            <a:endParaRPr lang="en-US" dirty="0"/>
          </a:p>
        </p:txBody>
      </p:sp>
      <p:pic>
        <p:nvPicPr>
          <p:cNvPr id="6" name="Content Placeholder 5" descr="A graph showing the growth of coffee production&#10;&#10;AI-generated content may be incorrect.">
            <a:extLst>
              <a:ext uri="{FF2B5EF4-FFF2-40B4-BE49-F238E27FC236}">
                <a16:creationId xmlns:a16="http://schemas.microsoft.com/office/drawing/2014/main" id="{054592C9-E81E-1B9F-9561-9119B1D6E3BB}"/>
              </a:ext>
            </a:extLst>
          </p:cNvPr>
          <p:cNvPicPr>
            <a:picLocks noGrp="1" noChangeAspect="1"/>
          </p:cNvPicPr>
          <p:nvPr>
            <p:ph sz="half" idx="1"/>
          </p:nvPr>
        </p:nvPicPr>
        <p:blipFill>
          <a:blip r:embed="rId2"/>
          <a:stretch>
            <a:fillRect/>
          </a:stretch>
        </p:blipFill>
        <p:spPr>
          <a:xfrm>
            <a:off x="644769" y="1414001"/>
            <a:ext cx="5181600" cy="3719661"/>
          </a:xfrm>
        </p:spPr>
      </p:pic>
      <p:sp>
        <p:nvSpPr>
          <p:cNvPr id="5" name="Content Placeholder 4">
            <a:extLst>
              <a:ext uri="{FF2B5EF4-FFF2-40B4-BE49-F238E27FC236}">
                <a16:creationId xmlns:a16="http://schemas.microsoft.com/office/drawing/2014/main" id="{27245781-2E28-4EB2-2715-96AEF8044976}"/>
              </a:ext>
            </a:extLst>
          </p:cNvPr>
          <p:cNvSpPr>
            <a:spLocks noGrp="1"/>
          </p:cNvSpPr>
          <p:nvPr>
            <p:ph sz="half" idx="2"/>
          </p:nvPr>
        </p:nvSpPr>
        <p:spPr>
          <a:xfrm>
            <a:off x="6104681" y="1272036"/>
            <a:ext cx="5479338" cy="4904928"/>
          </a:xfrm>
        </p:spPr>
        <p:txBody>
          <a:bodyPr vert="horz" lIns="91440" tIns="45720" rIns="91440" bIns="45720" rtlCol="0" anchor="t">
            <a:normAutofit lnSpcReduction="10000"/>
          </a:bodyPr>
          <a:lstStyle/>
          <a:p>
            <a:pPr algn="just">
              <a:lnSpc>
                <a:spcPct val="110000"/>
              </a:lnSpc>
            </a:pPr>
            <a:r>
              <a:rPr lang="en-US" b="1" dirty="0">
                <a:latin typeface="Arial Nova"/>
              </a:rPr>
              <a:t>Yearly production totals</a:t>
            </a:r>
            <a:r>
              <a:rPr lang="en-US" dirty="0">
                <a:latin typeface="Arial Nova"/>
              </a:rPr>
              <a:t> were analyzed using a pivot table with </a:t>
            </a:r>
            <a:r>
              <a:rPr lang="en-US" b="1" dirty="0">
                <a:latin typeface="Arial Nova"/>
              </a:rPr>
              <a:t>Year as rows</a:t>
            </a:r>
            <a:r>
              <a:rPr lang="en-US" dirty="0">
                <a:latin typeface="Arial Nova"/>
              </a:rPr>
              <a:t> and </a:t>
            </a:r>
            <a:r>
              <a:rPr lang="en-US" b="1" dirty="0">
                <a:latin typeface="Arial Nova"/>
              </a:rPr>
              <a:t>Sum of Production (tons)</a:t>
            </a:r>
            <a:r>
              <a:rPr lang="en-US" dirty="0">
                <a:latin typeface="Arial Nova"/>
              </a:rPr>
              <a:t> as values.</a:t>
            </a:r>
            <a:endParaRPr lang="en-US" dirty="0"/>
          </a:p>
          <a:p>
            <a:pPr algn="just">
              <a:lnSpc>
                <a:spcPct val="100000"/>
              </a:lnSpc>
            </a:pPr>
            <a:r>
              <a:rPr lang="en-US" dirty="0">
                <a:latin typeface="Arial Nova"/>
              </a:rPr>
              <a:t>Global coffee production has shown a </a:t>
            </a:r>
            <a:r>
              <a:rPr lang="en-US" b="1" dirty="0">
                <a:latin typeface="Arial Nova"/>
              </a:rPr>
              <a:t>steady upward trend</a:t>
            </a:r>
            <a:r>
              <a:rPr lang="en-US" dirty="0">
                <a:latin typeface="Arial Nova"/>
              </a:rPr>
              <a:t> over the past six decades.</a:t>
            </a:r>
            <a:endParaRPr lang="en-US" dirty="0"/>
          </a:p>
          <a:p>
            <a:pPr algn="just">
              <a:lnSpc>
                <a:spcPct val="100000"/>
              </a:lnSpc>
            </a:pPr>
            <a:r>
              <a:rPr lang="en-US" b="1" dirty="0">
                <a:latin typeface="Arial Nova"/>
              </a:rPr>
              <a:t>Conditional formatting</a:t>
            </a:r>
            <a:r>
              <a:rPr lang="en-US" dirty="0">
                <a:latin typeface="Arial Nova"/>
              </a:rPr>
              <a:t> used to highlight production highs and lows.</a:t>
            </a:r>
            <a:endParaRPr lang="en-US" dirty="0"/>
          </a:p>
          <a:p>
            <a:pPr algn="just">
              <a:lnSpc>
                <a:spcPct val="100000"/>
              </a:lnSpc>
            </a:pPr>
            <a:r>
              <a:rPr lang="en-US" b="1" dirty="0">
                <a:latin typeface="Arial Nova"/>
              </a:rPr>
              <a:t>Line chart</a:t>
            </a:r>
            <a:r>
              <a:rPr lang="en-US" dirty="0">
                <a:latin typeface="Arial Nova"/>
              </a:rPr>
              <a:t> created to visualize the long-term global growth pattern.</a:t>
            </a:r>
            <a:endParaRPr lang="en-US" dirty="0"/>
          </a:p>
          <a:p>
            <a:pPr algn="just">
              <a:lnSpc>
                <a:spcPct val="100000"/>
              </a:lnSpc>
            </a:pPr>
            <a:r>
              <a:rPr lang="en-US" b="1" dirty="0">
                <a:latin typeface="Arial Nova"/>
              </a:rPr>
              <a:t>Insight:</a:t>
            </a:r>
            <a:r>
              <a:rPr lang="en-US" dirty="0">
                <a:latin typeface="Arial Nova"/>
              </a:rPr>
              <a:t> </a:t>
            </a:r>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The consistent rise reflects growing global demand, technological advancement, and increased cultivation.</a:t>
            </a:r>
            <a:endParaRPr lang="en-US" dirty="0"/>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Some </a:t>
            </a:r>
            <a:r>
              <a:rPr lang="en-US" b="1" dirty="0">
                <a:latin typeface="Arial Nova"/>
              </a:rPr>
              <a:t>noticeable declines</a:t>
            </a:r>
            <a:r>
              <a:rPr lang="en-US" dirty="0">
                <a:latin typeface="Arial Nova"/>
              </a:rPr>
              <a:t> in specific years, possibly due to environmental or economic disruptions.</a:t>
            </a:r>
            <a:endParaRPr lang="en-US" dirty="0"/>
          </a:p>
          <a:p>
            <a:pPr algn="just">
              <a:lnSpc>
                <a:spcPct val="100000"/>
              </a:lnSpc>
            </a:pPr>
            <a:endParaRPr lang="en-US" dirty="0"/>
          </a:p>
        </p:txBody>
      </p:sp>
      <p:sp>
        <p:nvSpPr>
          <p:cNvPr id="3" name="Slide Number Placeholder 2">
            <a:extLst>
              <a:ext uri="{FF2B5EF4-FFF2-40B4-BE49-F238E27FC236}">
                <a16:creationId xmlns:a16="http://schemas.microsoft.com/office/drawing/2014/main" id="{EF74562F-C330-ED27-787A-8D2FEF8CC987}"/>
              </a:ext>
            </a:extLst>
          </p:cNvPr>
          <p:cNvSpPr>
            <a:spLocks noGrp="1"/>
          </p:cNvSpPr>
          <p:nvPr>
            <p:ph type="sldNum" sz="quarter" idx="12"/>
          </p:nvPr>
        </p:nvSpPr>
        <p:spPr/>
        <p:txBody>
          <a:bodyPr/>
          <a:lstStyle/>
          <a:p>
            <a:fld id="{4267CD5E-26CF-4249-8540-BB1D07FD4227}" type="slidenum">
              <a:rPr lang="en-US" smtClean="0"/>
              <a:t>8</a:t>
            </a:fld>
            <a:endParaRPr lang="en-US"/>
          </a:p>
        </p:txBody>
      </p:sp>
    </p:spTree>
    <p:extLst>
      <p:ext uri="{BB962C8B-B14F-4D97-AF65-F5344CB8AC3E}">
        <p14:creationId xmlns:p14="http://schemas.microsoft.com/office/powerpoint/2010/main" val="533711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C9FC4-E025-6992-FB81-CC34DD10EBE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6667A8-9595-E8F3-AD9D-65AD7F59C8FA}"/>
              </a:ext>
            </a:extLst>
          </p:cNvPr>
          <p:cNvSpPr>
            <a:spLocks noGrp="1"/>
          </p:cNvSpPr>
          <p:nvPr>
            <p:ph type="title"/>
          </p:nvPr>
        </p:nvSpPr>
        <p:spPr/>
        <p:txBody>
          <a:bodyPr>
            <a:normAutofit/>
          </a:bodyPr>
          <a:lstStyle/>
          <a:p>
            <a:r>
              <a:rPr lang="en-US" dirty="0">
                <a:latin typeface="Arial Nova Cond"/>
              </a:rPr>
              <a:t>Yearly Global Trends Over Time (Avg Time)</a:t>
            </a:r>
            <a:endParaRPr lang="en-US" dirty="0"/>
          </a:p>
        </p:txBody>
      </p:sp>
      <p:sp>
        <p:nvSpPr>
          <p:cNvPr id="2" name="Content Placeholder 1">
            <a:extLst>
              <a:ext uri="{FF2B5EF4-FFF2-40B4-BE49-F238E27FC236}">
                <a16:creationId xmlns:a16="http://schemas.microsoft.com/office/drawing/2014/main" id="{2D586E88-6DBB-BE6D-B7BF-096CAB1C154F}"/>
              </a:ext>
            </a:extLst>
          </p:cNvPr>
          <p:cNvSpPr>
            <a:spLocks noGrp="1"/>
          </p:cNvSpPr>
          <p:nvPr>
            <p:ph sz="half" idx="1"/>
          </p:nvPr>
        </p:nvSpPr>
        <p:spPr>
          <a:xfrm>
            <a:off x="644769" y="1294323"/>
            <a:ext cx="5251508" cy="4882641"/>
          </a:xfrm>
        </p:spPr>
        <p:txBody>
          <a:bodyPr vert="horz" lIns="91440" tIns="45720" rIns="91440" bIns="45720" rtlCol="0" anchor="t">
            <a:normAutofit lnSpcReduction="10000"/>
          </a:bodyPr>
          <a:lstStyle/>
          <a:p>
            <a:pPr algn="just">
              <a:lnSpc>
                <a:spcPct val="100000"/>
              </a:lnSpc>
            </a:pPr>
            <a:r>
              <a:rPr lang="en-US" dirty="0">
                <a:latin typeface="Arial Nova"/>
              </a:rPr>
              <a:t>Analyzed </a:t>
            </a:r>
            <a:r>
              <a:rPr lang="en-US" b="1" dirty="0">
                <a:latin typeface="Arial Nova"/>
              </a:rPr>
              <a:t>average yearly production (tons), area harvested (hectare) , and yield (tons per hectare)</a:t>
            </a:r>
            <a:r>
              <a:rPr lang="en-US" dirty="0">
                <a:latin typeface="Arial Nova"/>
              </a:rPr>
              <a:t> from 1961–2022.</a:t>
            </a:r>
            <a:endParaRPr lang="en-US" dirty="0"/>
          </a:p>
          <a:p>
            <a:pPr algn="just">
              <a:lnSpc>
                <a:spcPct val="110000"/>
              </a:lnSpc>
            </a:pPr>
            <a:r>
              <a:rPr lang="en-US" dirty="0">
                <a:latin typeface="Arial Nova"/>
              </a:rPr>
              <a:t>A </a:t>
            </a:r>
            <a:r>
              <a:rPr lang="en-US" b="1" dirty="0">
                <a:latin typeface="Arial Nova"/>
              </a:rPr>
              <a:t>continent slicer</a:t>
            </a:r>
            <a:r>
              <a:rPr lang="en-US" dirty="0">
                <a:latin typeface="Arial Nova"/>
              </a:rPr>
              <a:t> was applied to enable interactive comparison across regions.</a:t>
            </a:r>
          </a:p>
          <a:p>
            <a:pPr algn="just">
              <a:lnSpc>
                <a:spcPct val="110000"/>
              </a:lnSpc>
            </a:pPr>
            <a:r>
              <a:rPr lang="en-US" b="1" dirty="0">
                <a:latin typeface="Arial Nova"/>
              </a:rPr>
              <a:t>Line chart visualization</a:t>
            </a:r>
            <a:r>
              <a:rPr lang="en-US" dirty="0">
                <a:latin typeface="Arial Nova"/>
              </a:rPr>
              <a:t> helps track how each continent’s metrics evolved over time.</a:t>
            </a:r>
            <a:endParaRPr lang="en-US" dirty="0"/>
          </a:p>
          <a:p>
            <a:pPr algn="just">
              <a:lnSpc>
                <a:spcPct val="100000"/>
              </a:lnSpc>
            </a:pPr>
            <a:r>
              <a:rPr lang="en-US" b="1" dirty="0">
                <a:latin typeface="Arial Nova"/>
              </a:rPr>
              <a:t>Insight:</a:t>
            </a:r>
          </a:p>
          <a:p>
            <a:pPr marL="0" indent="0" algn="just">
              <a:lnSpc>
                <a:spcPct val="100000"/>
              </a:lnSpc>
              <a:buNone/>
            </a:pPr>
            <a:r>
              <a:rPr lang="en-US" b="1" dirty="0">
                <a:latin typeface="Arial Nova"/>
              </a:rPr>
              <a:t>  </a:t>
            </a:r>
            <a:r>
              <a:rPr lang="en-US" dirty="0">
                <a:solidFill>
                  <a:srgbClr val="E6832E"/>
                </a:solidFill>
                <a:latin typeface="Arial Nova"/>
              </a:rPr>
              <a:t>- </a:t>
            </a:r>
            <a:r>
              <a:rPr lang="en-US" dirty="0">
                <a:latin typeface="Arial Nova"/>
              </a:rPr>
              <a:t>Africa shows steady growth in land under cultivation.</a:t>
            </a:r>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However, </a:t>
            </a:r>
            <a:r>
              <a:rPr lang="en-US" b="1" dirty="0">
                <a:latin typeface="Arial Nova"/>
              </a:rPr>
              <a:t>production and yield remain significantly lower</a:t>
            </a:r>
            <a:r>
              <a:rPr lang="en-US" dirty="0">
                <a:latin typeface="Arial Nova"/>
              </a:rPr>
              <a:t> than in the Americas and Asia.</a:t>
            </a:r>
            <a:endParaRPr lang="en-US" dirty="0"/>
          </a:p>
          <a:p>
            <a:pPr marL="0" indent="0" algn="just">
              <a:lnSpc>
                <a:spcPct val="100000"/>
              </a:lnSpc>
              <a:buNone/>
            </a:pPr>
            <a:r>
              <a:rPr lang="en-US" dirty="0">
                <a:latin typeface="Arial Nova"/>
              </a:rPr>
              <a:t>  </a:t>
            </a:r>
            <a:r>
              <a:rPr lang="en-US" dirty="0">
                <a:solidFill>
                  <a:srgbClr val="E6832E"/>
                </a:solidFill>
                <a:latin typeface="Arial Nova"/>
              </a:rPr>
              <a:t>- </a:t>
            </a:r>
            <a:r>
              <a:rPr lang="en-US" dirty="0">
                <a:latin typeface="Arial Nova"/>
              </a:rPr>
              <a:t>This indicates </a:t>
            </a:r>
            <a:r>
              <a:rPr lang="en-US" b="1" dirty="0">
                <a:latin typeface="Arial Nova"/>
              </a:rPr>
              <a:t>low land-use efficiency</a:t>
            </a:r>
            <a:r>
              <a:rPr lang="en-US" dirty="0">
                <a:latin typeface="Arial Nova"/>
              </a:rPr>
              <a:t> and a </a:t>
            </a:r>
            <a:r>
              <a:rPr lang="en-US" b="1" dirty="0">
                <a:latin typeface="Arial Nova"/>
              </a:rPr>
              <a:t>need for agricultural improvement.</a:t>
            </a:r>
            <a:endParaRPr lang="en-US" dirty="0"/>
          </a:p>
          <a:p>
            <a:pPr marL="0" indent="0" algn="just">
              <a:lnSpc>
                <a:spcPct val="100000"/>
              </a:lnSpc>
              <a:buNone/>
            </a:pPr>
            <a:endParaRPr lang="en-US" dirty="0">
              <a:latin typeface="Arial Nova"/>
            </a:endParaRPr>
          </a:p>
        </p:txBody>
      </p:sp>
      <p:pic>
        <p:nvPicPr>
          <p:cNvPr id="6" name="Content Placeholder 5" descr="A screenshot of a computer&#10;&#10;AI-generated content may be incorrect.">
            <a:extLst>
              <a:ext uri="{FF2B5EF4-FFF2-40B4-BE49-F238E27FC236}">
                <a16:creationId xmlns:a16="http://schemas.microsoft.com/office/drawing/2014/main" id="{2781E039-27FE-0617-E0E5-4CCB339F2039}"/>
              </a:ext>
            </a:extLst>
          </p:cNvPr>
          <p:cNvPicPr>
            <a:picLocks noGrp="1" noChangeAspect="1"/>
          </p:cNvPicPr>
          <p:nvPr>
            <p:ph sz="half" idx="2"/>
          </p:nvPr>
        </p:nvPicPr>
        <p:blipFill>
          <a:blip r:embed="rId2"/>
          <a:stretch>
            <a:fillRect/>
          </a:stretch>
        </p:blipFill>
        <p:spPr>
          <a:xfrm>
            <a:off x="6102294" y="1680829"/>
            <a:ext cx="5573083" cy="3718140"/>
          </a:xfrm>
        </p:spPr>
      </p:pic>
      <p:sp>
        <p:nvSpPr>
          <p:cNvPr id="3" name="Slide Number Placeholder 2">
            <a:extLst>
              <a:ext uri="{FF2B5EF4-FFF2-40B4-BE49-F238E27FC236}">
                <a16:creationId xmlns:a16="http://schemas.microsoft.com/office/drawing/2014/main" id="{46E78D2F-B627-D6DC-B13C-37980993A857}"/>
              </a:ext>
            </a:extLst>
          </p:cNvPr>
          <p:cNvSpPr>
            <a:spLocks noGrp="1"/>
          </p:cNvSpPr>
          <p:nvPr>
            <p:ph type="sldNum" sz="quarter" idx="12"/>
          </p:nvPr>
        </p:nvSpPr>
        <p:spPr/>
        <p:txBody>
          <a:bodyPr/>
          <a:lstStyle/>
          <a:p>
            <a:fld id="{4267CD5E-26CF-4249-8540-BB1D07FD4227}" type="slidenum">
              <a:rPr lang="en-US" smtClean="0"/>
              <a:t>9</a:t>
            </a:fld>
            <a:endParaRPr lang="en-US"/>
          </a:p>
        </p:txBody>
      </p:sp>
    </p:spTree>
    <p:extLst>
      <p:ext uri="{BB962C8B-B14F-4D97-AF65-F5344CB8AC3E}">
        <p14:creationId xmlns:p14="http://schemas.microsoft.com/office/powerpoint/2010/main" val="1005221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E654D-55FF-AA97-8EE4-847AC69058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E1A725-0269-279B-F936-66F434B8CC3D}"/>
              </a:ext>
            </a:extLst>
          </p:cNvPr>
          <p:cNvSpPr>
            <a:spLocks noGrp="1"/>
          </p:cNvSpPr>
          <p:nvPr>
            <p:ph type="title"/>
          </p:nvPr>
        </p:nvSpPr>
        <p:spPr/>
        <p:txBody>
          <a:bodyPr/>
          <a:lstStyle/>
          <a:p>
            <a:r>
              <a:rPr lang="en-US" dirty="0">
                <a:latin typeface="Arial Nova Cond"/>
              </a:rPr>
              <a:t>Yield by Continent</a:t>
            </a:r>
            <a:endParaRPr lang="en-US" dirty="0"/>
          </a:p>
        </p:txBody>
      </p:sp>
      <p:pic>
        <p:nvPicPr>
          <p:cNvPr id="6" name="Content Placeholder 5" descr="A screenshot of a spreadsheet&#10;&#10;AI-generated content may be incorrect.">
            <a:extLst>
              <a:ext uri="{FF2B5EF4-FFF2-40B4-BE49-F238E27FC236}">
                <a16:creationId xmlns:a16="http://schemas.microsoft.com/office/drawing/2014/main" id="{A3D29895-117A-85B9-970D-66B4BC1920AE}"/>
              </a:ext>
            </a:extLst>
          </p:cNvPr>
          <p:cNvPicPr>
            <a:picLocks noGrp="1" noChangeAspect="1"/>
          </p:cNvPicPr>
          <p:nvPr>
            <p:ph sz="half" idx="1"/>
          </p:nvPr>
        </p:nvPicPr>
        <p:blipFill>
          <a:blip r:embed="rId2"/>
          <a:stretch>
            <a:fillRect/>
          </a:stretch>
        </p:blipFill>
        <p:spPr>
          <a:xfrm>
            <a:off x="644769" y="2061394"/>
            <a:ext cx="5181600" cy="2957012"/>
          </a:xfrm>
        </p:spPr>
      </p:pic>
      <p:sp>
        <p:nvSpPr>
          <p:cNvPr id="5" name="Content Placeholder 4">
            <a:extLst>
              <a:ext uri="{FF2B5EF4-FFF2-40B4-BE49-F238E27FC236}">
                <a16:creationId xmlns:a16="http://schemas.microsoft.com/office/drawing/2014/main" id="{8DE6A4B5-0D66-52D7-77B6-646237A0F4AA}"/>
              </a:ext>
            </a:extLst>
          </p:cNvPr>
          <p:cNvSpPr>
            <a:spLocks noGrp="1"/>
          </p:cNvSpPr>
          <p:nvPr>
            <p:ph sz="half" idx="2"/>
          </p:nvPr>
        </p:nvSpPr>
        <p:spPr>
          <a:xfrm>
            <a:off x="6116274" y="1266359"/>
            <a:ext cx="5475214" cy="4910605"/>
          </a:xfrm>
        </p:spPr>
        <p:txBody>
          <a:bodyPr vert="horz" lIns="91440" tIns="45720" rIns="91440" bIns="45720" rtlCol="0" anchor="t">
            <a:normAutofit fontScale="85000" lnSpcReduction="10000"/>
          </a:bodyPr>
          <a:lstStyle/>
          <a:p>
            <a:pPr algn="just">
              <a:lnSpc>
                <a:spcPct val="110000"/>
              </a:lnSpc>
            </a:pPr>
            <a:r>
              <a:rPr lang="en-US" dirty="0"/>
              <a:t>This analysis compares the </a:t>
            </a:r>
            <a:r>
              <a:rPr lang="en-US" b="1" dirty="0"/>
              <a:t>average coffee yield per hectare</a:t>
            </a:r>
            <a:r>
              <a:rPr lang="en-US" dirty="0"/>
              <a:t> across different continents.</a:t>
            </a:r>
          </a:p>
          <a:p>
            <a:pPr algn="just">
              <a:lnSpc>
                <a:spcPct val="110000"/>
              </a:lnSpc>
            </a:pPr>
            <a:r>
              <a:rPr lang="en-US" dirty="0"/>
              <a:t>A </a:t>
            </a:r>
            <a:r>
              <a:rPr lang="en-US" b="1" dirty="0"/>
              <a:t>column chart</a:t>
            </a:r>
            <a:r>
              <a:rPr lang="en-US" dirty="0"/>
              <a:t> was used to clearly show differences in production efficiency.</a:t>
            </a:r>
          </a:p>
          <a:p>
            <a:pPr algn="just">
              <a:lnSpc>
                <a:spcPct val="110000"/>
              </a:lnSpc>
            </a:pPr>
            <a:r>
              <a:rPr lang="en-US" dirty="0">
                <a:latin typeface="Arial Nova"/>
              </a:rPr>
              <a:t>A </a:t>
            </a:r>
            <a:r>
              <a:rPr lang="en-US" b="1" dirty="0">
                <a:latin typeface="Arial Nova"/>
              </a:rPr>
              <a:t>year slicer</a:t>
            </a:r>
            <a:r>
              <a:rPr lang="en-US" dirty="0">
                <a:latin typeface="Arial Nova"/>
              </a:rPr>
              <a:t> was included to examine how yield trends vary over time.</a:t>
            </a:r>
            <a:endParaRPr lang="en-US" dirty="0"/>
          </a:p>
          <a:p>
            <a:pPr algn="just">
              <a:lnSpc>
                <a:spcPct val="110000"/>
              </a:lnSpc>
            </a:pPr>
            <a:r>
              <a:rPr lang="en-US" b="1" dirty="0">
                <a:latin typeface="Arial Nova"/>
              </a:rPr>
              <a:t>Insight:</a:t>
            </a:r>
            <a:endParaRPr lang="en-US" b="1" dirty="0"/>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Africa consistently shows the lowest average yield, even with increasing land use.</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In contrast, Americas and Asia maintain higher yields, supported by modern farming techniques and mechanization.</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The gap in yield reflects a productivity challenge for Africa’s coffee sector.</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Improving yield through better agricultural tools, training, and policy support is crucial for Africa to compete globally.</a:t>
            </a:r>
          </a:p>
          <a:p>
            <a:pPr>
              <a:lnSpc>
                <a:spcPct val="110000"/>
              </a:lnSpc>
            </a:pPr>
            <a:endParaRPr lang="en-US" dirty="0"/>
          </a:p>
        </p:txBody>
      </p:sp>
      <p:sp>
        <p:nvSpPr>
          <p:cNvPr id="3" name="Slide Number Placeholder 2">
            <a:extLst>
              <a:ext uri="{FF2B5EF4-FFF2-40B4-BE49-F238E27FC236}">
                <a16:creationId xmlns:a16="http://schemas.microsoft.com/office/drawing/2014/main" id="{AF8C847C-4571-32CB-FDEA-AA4129CE78F6}"/>
              </a:ext>
            </a:extLst>
          </p:cNvPr>
          <p:cNvSpPr>
            <a:spLocks noGrp="1"/>
          </p:cNvSpPr>
          <p:nvPr>
            <p:ph type="sldNum" sz="quarter" idx="12"/>
          </p:nvPr>
        </p:nvSpPr>
        <p:spPr/>
        <p:txBody>
          <a:bodyPr/>
          <a:lstStyle/>
          <a:p>
            <a:fld id="{4267CD5E-26CF-4249-8540-BB1D07FD4227}" type="slidenum">
              <a:rPr lang="en-US" smtClean="0"/>
              <a:t>10</a:t>
            </a:fld>
            <a:endParaRPr lang="en-US"/>
          </a:p>
        </p:txBody>
      </p:sp>
    </p:spTree>
    <p:extLst>
      <p:ext uri="{BB962C8B-B14F-4D97-AF65-F5344CB8AC3E}">
        <p14:creationId xmlns:p14="http://schemas.microsoft.com/office/powerpoint/2010/main" val="243239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CAD87-7C34-D9B3-4D3F-94B6A572B5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137F3E-83EC-6BB7-8A7B-784DBEE50444}"/>
              </a:ext>
            </a:extLst>
          </p:cNvPr>
          <p:cNvSpPr>
            <a:spLocks noGrp="1"/>
          </p:cNvSpPr>
          <p:nvPr>
            <p:ph type="title"/>
          </p:nvPr>
        </p:nvSpPr>
        <p:spPr/>
        <p:txBody>
          <a:bodyPr/>
          <a:lstStyle/>
          <a:p>
            <a:r>
              <a:rPr lang="en-US" dirty="0">
                <a:latin typeface="Arial Nova Cond"/>
              </a:rPr>
              <a:t>Production by Continent </a:t>
            </a:r>
            <a:endParaRPr lang="en-US" dirty="0"/>
          </a:p>
        </p:txBody>
      </p:sp>
      <p:sp>
        <p:nvSpPr>
          <p:cNvPr id="2" name="Content Placeholder 1">
            <a:extLst>
              <a:ext uri="{FF2B5EF4-FFF2-40B4-BE49-F238E27FC236}">
                <a16:creationId xmlns:a16="http://schemas.microsoft.com/office/drawing/2014/main" id="{39F7727A-4153-BF4E-ED02-35C20DF24D3E}"/>
              </a:ext>
            </a:extLst>
          </p:cNvPr>
          <p:cNvSpPr>
            <a:spLocks noGrp="1"/>
          </p:cNvSpPr>
          <p:nvPr>
            <p:ph sz="half" idx="1"/>
          </p:nvPr>
        </p:nvSpPr>
        <p:spPr>
          <a:xfrm>
            <a:off x="644769" y="1280341"/>
            <a:ext cx="5230536" cy="4896623"/>
          </a:xfrm>
        </p:spPr>
        <p:txBody>
          <a:bodyPr vert="horz" lIns="91440" tIns="45720" rIns="91440" bIns="45720" rtlCol="0" anchor="t">
            <a:normAutofit fontScale="85000" lnSpcReduction="20000"/>
          </a:bodyPr>
          <a:lstStyle/>
          <a:p>
            <a:pPr algn="just">
              <a:lnSpc>
                <a:spcPct val="120000"/>
              </a:lnSpc>
            </a:pPr>
            <a:r>
              <a:rPr lang="en-US" dirty="0">
                <a:latin typeface="Arial Nova"/>
              </a:rPr>
              <a:t>This analysis shows the </a:t>
            </a:r>
            <a:r>
              <a:rPr lang="en-US" b="1" dirty="0">
                <a:latin typeface="Arial Nova"/>
              </a:rPr>
              <a:t>proportional share of total coffee production</a:t>
            </a:r>
            <a:r>
              <a:rPr lang="en-US" dirty="0">
                <a:latin typeface="Arial Nova"/>
              </a:rPr>
              <a:t> by continent.</a:t>
            </a:r>
            <a:endParaRPr lang="en-US"/>
          </a:p>
          <a:p>
            <a:pPr algn="just">
              <a:lnSpc>
                <a:spcPct val="120000"/>
              </a:lnSpc>
            </a:pPr>
            <a:r>
              <a:rPr lang="en-US" dirty="0">
                <a:latin typeface="Arial Nova"/>
              </a:rPr>
              <a:t>A </a:t>
            </a:r>
            <a:r>
              <a:rPr lang="en-US" b="1" dirty="0">
                <a:latin typeface="Arial Nova"/>
              </a:rPr>
              <a:t>doughnut chart</a:t>
            </a:r>
            <a:r>
              <a:rPr lang="en-US" dirty="0">
                <a:latin typeface="Arial Nova"/>
              </a:rPr>
              <a:t> illustrates the distribution clearly, with a </a:t>
            </a:r>
            <a:r>
              <a:rPr lang="en-US" b="1" dirty="0">
                <a:latin typeface="Arial Nova"/>
              </a:rPr>
              <a:t>year slicer</a:t>
            </a:r>
            <a:r>
              <a:rPr lang="en-US" dirty="0">
                <a:latin typeface="Arial Nova"/>
              </a:rPr>
              <a:t> allowing comparisons across time.</a:t>
            </a:r>
          </a:p>
          <a:p>
            <a:pPr algn="just">
              <a:lnSpc>
                <a:spcPct val="120000"/>
              </a:lnSpc>
            </a:pPr>
            <a:r>
              <a:rPr lang="en-US" b="1" dirty="0">
                <a:latin typeface="Arial Nova"/>
              </a:rPr>
              <a:t>Insight:</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The </a:t>
            </a:r>
            <a:r>
              <a:rPr lang="en-US" b="1" dirty="0">
                <a:latin typeface="Arial Nova"/>
              </a:rPr>
              <a:t>Americas dominate</a:t>
            </a:r>
            <a:r>
              <a:rPr lang="en-US" dirty="0">
                <a:latin typeface="Arial Nova"/>
              </a:rPr>
              <a:t> the global coffee market, driven by top producers like Brazil and Colombia.</a:t>
            </a:r>
            <a:endParaRPr lang="en-US" dirty="0"/>
          </a:p>
          <a:p>
            <a:pPr marL="0" indent="0" algn="just">
              <a:lnSpc>
                <a:spcPct val="120000"/>
              </a:lnSpc>
              <a:buNone/>
            </a:pPr>
            <a:r>
              <a:rPr lang="en-US" b="1" dirty="0">
                <a:latin typeface="Arial Nova"/>
              </a:rPr>
              <a:t>  </a:t>
            </a:r>
            <a:r>
              <a:rPr lang="en-US" b="1" dirty="0">
                <a:solidFill>
                  <a:srgbClr val="E6832E"/>
                </a:solidFill>
                <a:latin typeface="Arial Nova"/>
              </a:rPr>
              <a:t>- </a:t>
            </a:r>
            <a:r>
              <a:rPr lang="en-US" b="1" dirty="0">
                <a:latin typeface="Arial Nova"/>
              </a:rPr>
              <a:t>Asia</a:t>
            </a:r>
            <a:r>
              <a:rPr lang="en-US" dirty="0">
                <a:latin typeface="Arial Nova"/>
              </a:rPr>
              <a:t> also contributes a significant share, primarily due to Vietnam’s high output.</a:t>
            </a:r>
            <a:endParaRPr lang="en-US" dirty="0"/>
          </a:p>
          <a:p>
            <a:pPr marL="0" indent="0" algn="just">
              <a:lnSpc>
                <a:spcPct val="120000"/>
              </a:lnSpc>
              <a:buNone/>
            </a:pPr>
            <a:r>
              <a:rPr lang="en-US" b="1" dirty="0">
                <a:latin typeface="Arial Nova"/>
              </a:rPr>
              <a:t>  </a:t>
            </a:r>
            <a:r>
              <a:rPr lang="en-US" b="1" dirty="0">
                <a:solidFill>
                  <a:srgbClr val="E6832E"/>
                </a:solidFill>
                <a:latin typeface="Arial Nova"/>
              </a:rPr>
              <a:t>- </a:t>
            </a:r>
            <a:r>
              <a:rPr lang="en-US" b="1" dirty="0">
                <a:latin typeface="Arial Nova"/>
              </a:rPr>
              <a:t>Africa’s contribution remains modest</a:t>
            </a:r>
            <a:r>
              <a:rPr lang="en-US" dirty="0">
                <a:latin typeface="Arial Nova"/>
              </a:rPr>
              <a:t>, averaging around </a:t>
            </a:r>
            <a:r>
              <a:rPr lang="en-US" b="1" dirty="0">
                <a:latin typeface="Arial Nova"/>
              </a:rPr>
              <a:t>12%</a:t>
            </a:r>
            <a:r>
              <a:rPr lang="en-US" dirty="0">
                <a:latin typeface="Arial Nova"/>
              </a:rPr>
              <a:t>, despite its historical importance in coffee cultivation.</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The chart reveals a </a:t>
            </a:r>
            <a:r>
              <a:rPr lang="en-US" b="1" dirty="0">
                <a:latin typeface="Arial Nova"/>
              </a:rPr>
              <a:t>global imbalance in production</a:t>
            </a:r>
            <a:r>
              <a:rPr lang="en-US" dirty="0">
                <a:latin typeface="Arial Nova"/>
              </a:rPr>
              <a:t>, pointing to untapped potential in Africa.</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This emphasizes the need for </a:t>
            </a:r>
            <a:r>
              <a:rPr lang="en-US" b="1" dirty="0">
                <a:latin typeface="Arial Nova"/>
              </a:rPr>
              <a:t>yield improvement, investment, and modern farming practices</a:t>
            </a:r>
            <a:r>
              <a:rPr lang="en-US" dirty="0">
                <a:latin typeface="Arial Nova"/>
              </a:rPr>
              <a:t> to boost Africa’s role in the global market.</a:t>
            </a:r>
            <a:endParaRPr lang="en-US" dirty="0"/>
          </a:p>
          <a:p>
            <a:pPr marL="0" indent="0">
              <a:lnSpc>
                <a:spcPct val="120000"/>
              </a:lnSpc>
              <a:buNone/>
            </a:pPr>
            <a:endParaRPr lang="en-US" b="1" dirty="0">
              <a:latin typeface="Arial Nova"/>
            </a:endParaRPr>
          </a:p>
        </p:txBody>
      </p:sp>
      <p:pic>
        <p:nvPicPr>
          <p:cNvPr id="6" name="Content Placeholder 5" descr="A screenshot of a graph&#10;&#10;AI-generated content may be incorrect.">
            <a:extLst>
              <a:ext uri="{FF2B5EF4-FFF2-40B4-BE49-F238E27FC236}">
                <a16:creationId xmlns:a16="http://schemas.microsoft.com/office/drawing/2014/main" id="{E6C92847-8376-91C5-06EF-FB0773ABC538}"/>
              </a:ext>
            </a:extLst>
          </p:cNvPr>
          <p:cNvPicPr>
            <a:picLocks noGrp="1" noChangeAspect="1"/>
          </p:cNvPicPr>
          <p:nvPr>
            <p:ph sz="half" idx="2"/>
          </p:nvPr>
        </p:nvPicPr>
        <p:blipFill>
          <a:blip r:embed="rId2"/>
          <a:stretch>
            <a:fillRect/>
          </a:stretch>
        </p:blipFill>
        <p:spPr>
          <a:xfrm>
            <a:off x="6116274" y="2084077"/>
            <a:ext cx="5237526" cy="3086417"/>
          </a:xfrm>
        </p:spPr>
      </p:pic>
      <p:sp>
        <p:nvSpPr>
          <p:cNvPr id="3" name="Slide Number Placeholder 2">
            <a:extLst>
              <a:ext uri="{FF2B5EF4-FFF2-40B4-BE49-F238E27FC236}">
                <a16:creationId xmlns:a16="http://schemas.microsoft.com/office/drawing/2014/main" id="{058A9122-4AAE-3D8C-7216-64490F9988B0}"/>
              </a:ext>
            </a:extLst>
          </p:cNvPr>
          <p:cNvSpPr>
            <a:spLocks noGrp="1"/>
          </p:cNvSpPr>
          <p:nvPr>
            <p:ph type="sldNum" sz="quarter" idx="12"/>
          </p:nvPr>
        </p:nvSpPr>
        <p:spPr/>
        <p:txBody>
          <a:bodyPr/>
          <a:lstStyle/>
          <a:p>
            <a:fld id="{4267CD5E-26CF-4249-8540-BB1D07FD4227}" type="slidenum">
              <a:rPr lang="en-US" smtClean="0"/>
              <a:t>11</a:t>
            </a:fld>
            <a:endParaRPr lang="en-US"/>
          </a:p>
        </p:txBody>
      </p:sp>
    </p:spTree>
    <p:extLst>
      <p:ext uri="{BB962C8B-B14F-4D97-AF65-F5344CB8AC3E}">
        <p14:creationId xmlns:p14="http://schemas.microsoft.com/office/powerpoint/2010/main" val="752130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D6523-C1D0-8103-10C3-DB4702E4A6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B7EFF2-89B5-399D-F10B-8A7238CCEFA1}"/>
              </a:ext>
            </a:extLst>
          </p:cNvPr>
          <p:cNvSpPr>
            <a:spLocks noGrp="1"/>
          </p:cNvSpPr>
          <p:nvPr>
            <p:ph type="title"/>
          </p:nvPr>
        </p:nvSpPr>
        <p:spPr>
          <a:xfrm>
            <a:off x="644769" y="365125"/>
            <a:ext cx="11311830" cy="822224"/>
          </a:xfrm>
        </p:spPr>
        <p:txBody>
          <a:bodyPr vert="horz" lIns="91440" tIns="45720" rIns="91440" bIns="45720" rtlCol="0" anchor="t">
            <a:noAutofit/>
          </a:bodyPr>
          <a:lstStyle/>
          <a:p>
            <a:r>
              <a:rPr lang="en-US" sz="3200" dirty="0">
                <a:latin typeface="Arial Nova Cond"/>
              </a:rPr>
              <a:t>Comparative Analysis: Area Harvested vs Production.t</a:t>
            </a:r>
            <a:endParaRPr lang="en-US" sz="3200" dirty="0"/>
          </a:p>
        </p:txBody>
      </p:sp>
      <p:pic>
        <p:nvPicPr>
          <p:cNvPr id="6" name="Content Placeholder 5" descr="A screenshot of a graph&#10;&#10;AI-generated content may be incorrect.">
            <a:extLst>
              <a:ext uri="{FF2B5EF4-FFF2-40B4-BE49-F238E27FC236}">
                <a16:creationId xmlns:a16="http://schemas.microsoft.com/office/drawing/2014/main" id="{5C2A835D-F792-CBDA-094F-488E4C9D335D}"/>
              </a:ext>
            </a:extLst>
          </p:cNvPr>
          <p:cNvPicPr>
            <a:picLocks noGrp="1" noChangeAspect="1"/>
          </p:cNvPicPr>
          <p:nvPr>
            <p:ph sz="half" idx="1"/>
          </p:nvPr>
        </p:nvPicPr>
        <p:blipFill>
          <a:blip r:embed="rId2"/>
          <a:stretch>
            <a:fillRect/>
          </a:stretch>
        </p:blipFill>
        <p:spPr>
          <a:xfrm>
            <a:off x="644769" y="1901538"/>
            <a:ext cx="5181600" cy="3220799"/>
          </a:xfrm>
        </p:spPr>
      </p:pic>
      <p:sp>
        <p:nvSpPr>
          <p:cNvPr id="5" name="Content Placeholder 4">
            <a:extLst>
              <a:ext uri="{FF2B5EF4-FFF2-40B4-BE49-F238E27FC236}">
                <a16:creationId xmlns:a16="http://schemas.microsoft.com/office/drawing/2014/main" id="{1CBECDCB-55DE-E455-CB76-2D7D6451C201}"/>
              </a:ext>
            </a:extLst>
          </p:cNvPr>
          <p:cNvSpPr>
            <a:spLocks noGrp="1"/>
          </p:cNvSpPr>
          <p:nvPr>
            <p:ph sz="half" idx="2"/>
          </p:nvPr>
        </p:nvSpPr>
        <p:spPr>
          <a:xfrm>
            <a:off x="6109284" y="1203443"/>
            <a:ext cx="5412295" cy="4973521"/>
          </a:xfrm>
        </p:spPr>
        <p:txBody>
          <a:bodyPr vert="horz" lIns="91440" tIns="45720" rIns="91440" bIns="45720" rtlCol="0" anchor="t">
            <a:normAutofit fontScale="85000" lnSpcReduction="10000"/>
          </a:bodyPr>
          <a:lstStyle/>
          <a:p>
            <a:pPr algn="just">
              <a:lnSpc>
                <a:spcPct val="110000"/>
              </a:lnSpc>
            </a:pPr>
            <a:r>
              <a:rPr lang="en-US" dirty="0">
                <a:latin typeface="Arial Nova"/>
              </a:rPr>
              <a:t>The analysis compares </a:t>
            </a:r>
            <a:r>
              <a:rPr lang="en-US" b="1" dirty="0">
                <a:latin typeface="Arial Nova"/>
              </a:rPr>
              <a:t>average land harvested</a:t>
            </a:r>
            <a:r>
              <a:rPr lang="en-US" dirty="0">
                <a:latin typeface="Arial Nova"/>
              </a:rPr>
              <a:t> and </a:t>
            </a:r>
            <a:r>
              <a:rPr lang="en-US" b="1" dirty="0">
                <a:latin typeface="Arial Nova"/>
              </a:rPr>
              <a:t>coffee production output</a:t>
            </a:r>
            <a:r>
              <a:rPr lang="en-US" dirty="0">
                <a:latin typeface="Arial Nova"/>
              </a:rPr>
              <a:t> across continents.</a:t>
            </a:r>
            <a:endParaRPr lang="en-US"/>
          </a:p>
          <a:p>
            <a:pPr algn="just">
              <a:lnSpc>
                <a:spcPct val="110000"/>
              </a:lnSpc>
            </a:pPr>
            <a:r>
              <a:rPr lang="en-US" dirty="0">
                <a:latin typeface="Arial Nova"/>
              </a:rPr>
              <a:t>A </a:t>
            </a:r>
            <a:r>
              <a:rPr lang="en-US" b="1" dirty="0">
                <a:latin typeface="Arial Nova"/>
              </a:rPr>
              <a:t>column chart</a:t>
            </a:r>
            <a:r>
              <a:rPr lang="en-US" dirty="0">
                <a:latin typeface="Arial Nova"/>
              </a:rPr>
              <a:t> visually represents each region’s ability to convert land into production, with a </a:t>
            </a:r>
            <a:r>
              <a:rPr lang="en-US" b="1" dirty="0">
                <a:latin typeface="Arial Nova"/>
              </a:rPr>
              <a:t>year slicer</a:t>
            </a:r>
            <a:r>
              <a:rPr lang="en-US" dirty="0">
                <a:latin typeface="Arial Nova"/>
              </a:rPr>
              <a:t> included for time-based exploration.</a:t>
            </a:r>
          </a:p>
          <a:p>
            <a:pPr algn="just">
              <a:lnSpc>
                <a:spcPct val="110000"/>
              </a:lnSpc>
            </a:pPr>
            <a:r>
              <a:rPr lang="en-US" b="1" dirty="0">
                <a:latin typeface="Arial Nova"/>
              </a:rPr>
              <a:t>Insight:</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Africa cultivates a significant amount of land for coffee yet records lower output compared to other continents.</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Americas and Asia produce more coffee using less land, showing higher land-use efficiency.</a:t>
            </a:r>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This highlights a yield gap, rather than a lack of land availability in Africa.</a:t>
            </a:r>
            <a:endParaRPr lang="en-US" dirty="0"/>
          </a:p>
          <a:p>
            <a:pPr marL="0" indent="0" algn="just">
              <a:lnSpc>
                <a:spcPct val="110000"/>
              </a:lnSpc>
              <a:buNone/>
            </a:pPr>
            <a:r>
              <a:rPr lang="en-US" dirty="0">
                <a:latin typeface="Arial Nova"/>
              </a:rPr>
              <a:t>  </a:t>
            </a:r>
            <a:r>
              <a:rPr lang="en-US" dirty="0">
                <a:solidFill>
                  <a:srgbClr val="E6832E"/>
                </a:solidFill>
                <a:latin typeface="Arial Nova"/>
              </a:rPr>
              <a:t>- </a:t>
            </a:r>
            <a:r>
              <a:rPr lang="en-US" dirty="0">
                <a:latin typeface="Arial Nova"/>
              </a:rPr>
              <a:t>So, Africa’s lower efficiency is likely due to limited mechanization, lack of access to modern farming tools, and insufficient agricultural support, emphasizing the need to focus on improving yield rather than expanding farmland.</a:t>
            </a:r>
            <a:endParaRPr lang="en-US" dirty="0"/>
          </a:p>
        </p:txBody>
      </p:sp>
      <p:sp>
        <p:nvSpPr>
          <p:cNvPr id="3" name="Slide Number Placeholder 2">
            <a:extLst>
              <a:ext uri="{FF2B5EF4-FFF2-40B4-BE49-F238E27FC236}">
                <a16:creationId xmlns:a16="http://schemas.microsoft.com/office/drawing/2014/main" id="{0E410648-84B5-0968-7DEB-317C5A51C459}"/>
              </a:ext>
            </a:extLst>
          </p:cNvPr>
          <p:cNvSpPr>
            <a:spLocks noGrp="1"/>
          </p:cNvSpPr>
          <p:nvPr>
            <p:ph type="sldNum" sz="quarter" idx="12"/>
          </p:nvPr>
        </p:nvSpPr>
        <p:spPr/>
        <p:txBody>
          <a:bodyPr/>
          <a:lstStyle/>
          <a:p>
            <a:fld id="{4267CD5E-26CF-4249-8540-BB1D07FD4227}" type="slidenum">
              <a:rPr lang="en-US" smtClean="0"/>
              <a:t>12</a:t>
            </a:fld>
            <a:endParaRPr lang="en-US"/>
          </a:p>
        </p:txBody>
      </p:sp>
    </p:spTree>
    <p:extLst>
      <p:ext uri="{BB962C8B-B14F-4D97-AF65-F5344CB8AC3E}">
        <p14:creationId xmlns:p14="http://schemas.microsoft.com/office/powerpoint/2010/main" val="622605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E8A30-551A-8C35-A192-C35D508C71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78C1F8-C505-486D-D93E-7FCC8ED7EDDB}"/>
              </a:ext>
            </a:extLst>
          </p:cNvPr>
          <p:cNvSpPr>
            <a:spLocks noGrp="1"/>
          </p:cNvSpPr>
          <p:nvPr>
            <p:ph type="title"/>
          </p:nvPr>
        </p:nvSpPr>
        <p:spPr/>
        <p:txBody>
          <a:bodyPr/>
          <a:lstStyle/>
          <a:p>
            <a:r>
              <a:rPr lang="en-US">
                <a:latin typeface="Arial Nova Cond"/>
              </a:rPr>
              <a:t>Challenge &amp; Solution </a:t>
            </a:r>
            <a:endParaRPr lang="en-US"/>
          </a:p>
        </p:txBody>
      </p:sp>
      <p:sp>
        <p:nvSpPr>
          <p:cNvPr id="2" name="Content Placeholder 1">
            <a:extLst>
              <a:ext uri="{FF2B5EF4-FFF2-40B4-BE49-F238E27FC236}">
                <a16:creationId xmlns:a16="http://schemas.microsoft.com/office/drawing/2014/main" id="{416E857D-7108-6F4A-5161-1AD3F87C188F}"/>
              </a:ext>
            </a:extLst>
          </p:cNvPr>
          <p:cNvSpPr>
            <a:spLocks noGrp="1"/>
          </p:cNvSpPr>
          <p:nvPr>
            <p:ph idx="1"/>
          </p:nvPr>
        </p:nvSpPr>
        <p:spPr>
          <a:xfrm>
            <a:off x="644771" y="1265028"/>
            <a:ext cx="10715543" cy="4817119"/>
          </a:xfrm>
        </p:spPr>
        <p:txBody>
          <a:bodyPr vert="horz" lIns="91440" tIns="45720" rIns="91440" bIns="45720" rtlCol="0" anchor="t">
            <a:normAutofit fontScale="85000" lnSpcReduction="20000"/>
          </a:bodyPr>
          <a:lstStyle/>
          <a:p>
            <a:pPr algn="just">
              <a:lnSpc>
                <a:spcPct val="120000"/>
              </a:lnSpc>
            </a:pPr>
            <a:r>
              <a:rPr lang="en-US" b="1" dirty="0">
                <a:latin typeface="Arial Nova"/>
              </a:rPr>
              <a:t>Challenges:</a:t>
            </a:r>
            <a:endParaRPr lang="en-US"/>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Missing or incomplete data across different years and countries</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Inconsistent units and formatting, making comparisons difficult</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Managing a large dataset spanning over 61 years</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Difficulty comparing yields across diverse agricultural environments</a:t>
            </a:r>
            <a:endParaRPr lang="en-US" dirty="0"/>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Presenting complex results clearly across multiple metrics and time periods</a:t>
            </a:r>
            <a:endParaRPr lang="en-US" dirty="0"/>
          </a:p>
          <a:p>
            <a:pPr marL="0" indent="0" algn="just">
              <a:lnSpc>
                <a:spcPct val="120000"/>
              </a:lnSpc>
              <a:buNone/>
            </a:pPr>
            <a:endParaRPr lang="en-US" b="1" dirty="0">
              <a:latin typeface="Arial Nova"/>
            </a:endParaRPr>
          </a:p>
          <a:p>
            <a:pPr algn="just">
              <a:lnSpc>
                <a:spcPct val="120000"/>
              </a:lnSpc>
            </a:pPr>
            <a:r>
              <a:rPr lang="en-US" b="1" dirty="0">
                <a:latin typeface="Arial Nova"/>
              </a:rPr>
              <a:t>Solution:</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Handled missing values using interpolation or excluded unreliable entries</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Standardized units (tons for production, hectares for area)</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Grouped data by </a:t>
            </a:r>
            <a:r>
              <a:rPr lang="en-US" b="1" dirty="0">
                <a:latin typeface="Arial Nova"/>
              </a:rPr>
              <a:t>decade</a:t>
            </a:r>
            <a:r>
              <a:rPr lang="en-US" dirty="0">
                <a:latin typeface="Arial Nova"/>
              </a:rPr>
              <a:t> and </a:t>
            </a:r>
            <a:r>
              <a:rPr lang="en-US" b="1" dirty="0">
                <a:latin typeface="Arial Nova"/>
              </a:rPr>
              <a:t>continent</a:t>
            </a:r>
            <a:r>
              <a:rPr lang="en-US" dirty="0">
                <a:latin typeface="Arial Nova"/>
              </a:rPr>
              <a:t> for better summarization</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Introduced </a:t>
            </a:r>
            <a:r>
              <a:rPr lang="en-US" b="1" dirty="0">
                <a:latin typeface="Arial Nova"/>
              </a:rPr>
              <a:t>Efficiency Level</a:t>
            </a:r>
            <a:r>
              <a:rPr lang="en-US" dirty="0">
                <a:latin typeface="Arial Nova"/>
              </a:rPr>
              <a:t> to enable fair comparisons</a:t>
            </a:r>
          </a:p>
          <a:p>
            <a:pPr marL="0" indent="0" algn="just">
              <a:lnSpc>
                <a:spcPct val="120000"/>
              </a:lnSpc>
              <a:buNone/>
            </a:pPr>
            <a:r>
              <a:rPr lang="en-US" dirty="0">
                <a:latin typeface="Arial Nova"/>
              </a:rPr>
              <a:t>  </a:t>
            </a:r>
            <a:r>
              <a:rPr lang="en-US" dirty="0">
                <a:solidFill>
                  <a:srgbClr val="E6832E"/>
                </a:solidFill>
                <a:latin typeface="Arial Nova"/>
              </a:rPr>
              <a:t>- </a:t>
            </a:r>
            <a:r>
              <a:rPr lang="en-US" dirty="0">
                <a:latin typeface="Arial Nova"/>
              </a:rPr>
              <a:t>Improved clarity with pivot tables, slicers, and varied chart types</a:t>
            </a:r>
            <a:endParaRPr lang="en-US" dirty="0"/>
          </a:p>
          <a:p>
            <a:pPr algn="just">
              <a:lnSpc>
                <a:spcPct val="110000"/>
              </a:lnSpc>
            </a:pPr>
            <a:endParaRPr lang="en-US"/>
          </a:p>
        </p:txBody>
      </p:sp>
      <p:sp>
        <p:nvSpPr>
          <p:cNvPr id="3" name="Slide Number Placeholder 2">
            <a:extLst>
              <a:ext uri="{FF2B5EF4-FFF2-40B4-BE49-F238E27FC236}">
                <a16:creationId xmlns:a16="http://schemas.microsoft.com/office/drawing/2014/main" id="{F263925E-0866-0D61-C326-76F17F0D32FF}"/>
              </a:ext>
            </a:extLst>
          </p:cNvPr>
          <p:cNvSpPr>
            <a:spLocks noGrp="1"/>
          </p:cNvSpPr>
          <p:nvPr>
            <p:ph type="sldNum" sz="quarter" idx="12"/>
          </p:nvPr>
        </p:nvSpPr>
        <p:spPr/>
        <p:txBody>
          <a:bodyPr/>
          <a:lstStyle/>
          <a:p>
            <a:fld id="{4267CD5E-26CF-4249-8540-BB1D07FD4227}" type="slidenum">
              <a:rPr lang="en-US" smtClean="0"/>
              <a:t>13</a:t>
            </a:fld>
            <a:endParaRPr lang="en-US"/>
          </a:p>
        </p:txBody>
      </p:sp>
    </p:spTree>
    <p:extLst>
      <p:ext uri="{BB962C8B-B14F-4D97-AF65-F5344CB8AC3E}">
        <p14:creationId xmlns:p14="http://schemas.microsoft.com/office/powerpoint/2010/main" val="1359092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8E1B0-B2D4-237A-0625-82AAB646B9F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60D4AC-D3D7-AB41-0EE0-DE2E1D30BF1B}"/>
              </a:ext>
            </a:extLst>
          </p:cNvPr>
          <p:cNvSpPr>
            <a:spLocks noGrp="1"/>
          </p:cNvSpPr>
          <p:nvPr>
            <p:ph type="title"/>
          </p:nvPr>
        </p:nvSpPr>
        <p:spPr/>
        <p:txBody>
          <a:bodyPr/>
          <a:lstStyle/>
          <a:p>
            <a:r>
              <a:rPr lang="en-US">
                <a:latin typeface="Arial Nova Cond"/>
              </a:rPr>
              <a:t>Conclusion </a:t>
            </a:r>
            <a:endParaRPr lang="en-US"/>
          </a:p>
        </p:txBody>
      </p:sp>
      <p:sp>
        <p:nvSpPr>
          <p:cNvPr id="2" name="Content Placeholder 1">
            <a:extLst>
              <a:ext uri="{FF2B5EF4-FFF2-40B4-BE49-F238E27FC236}">
                <a16:creationId xmlns:a16="http://schemas.microsoft.com/office/drawing/2014/main" id="{90B9727C-4934-CDEE-A16D-A5FD4BA57C2C}"/>
              </a:ext>
            </a:extLst>
          </p:cNvPr>
          <p:cNvSpPr>
            <a:spLocks noGrp="1"/>
          </p:cNvSpPr>
          <p:nvPr>
            <p:ph idx="1"/>
          </p:nvPr>
        </p:nvSpPr>
        <p:spPr>
          <a:xfrm>
            <a:off x="644771" y="1265028"/>
            <a:ext cx="10715543" cy="4817119"/>
          </a:xfrm>
        </p:spPr>
        <p:txBody>
          <a:bodyPr vert="horz" lIns="91440" tIns="45720" rIns="91440" bIns="45720" rtlCol="0" anchor="t">
            <a:normAutofit/>
          </a:bodyPr>
          <a:lstStyle/>
          <a:p>
            <a:pPr algn="just">
              <a:lnSpc>
                <a:spcPct val="100000"/>
              </a:lnSpc>
            </a:pPr>
            <a:r>
              <a:rPr lang="en-US" dirty="0">
                <a:solidFill>
                  <a:srgbClr val="000000"/>
                </a:solidFill>
                <a:latin typeface="Arial Nova"/>
                <a:cs typeface="Times New Roman"/>
              </a:rPr>
              <a:t>This project analyzed global coffee production trends with a focus on Africa’s performance compared to other continents from 1961 to 2022. </a:t>
            </a:r>
            <a:endParaRPr lang="en-US"/>
          </a:p>
          <a:p>
            <a:pPr algn="just">
              <a:lnSpc>
                <a:spcPct val="100000"/>
              </a:lnSpc>
            </a:pPr>
            <a:r>
              <a:rPr lang="en-US" dirty="0">
                <a:solidFill>
                  <a:srgbClr val="000000"/>
                </a:solidFill>
                <a:latin typeface="Arial Nova"/>
                <a:cs typeface="Times New Roman"/>
              </a:rPr>
              <a:t>The findings revealed that despite its vast agricultural potential, Africa contributes a relatively small share to global coffee output due to low yield efficiency and outdated practices. </a:t>
            </a:r>
            <a:endParaRPr lang="en-US">
              <a:solidFill>
                <a:srgbClr val="363D45"/>
              </a:solidFill>
              <a:cs typeface="Times New Roman"/>
            </a:endParaRPr>
          </a:p>
          <a:p>
            <a:pPr algn="just">
              <a:lnSpc>
                <a:spcPct val="100000"/>
              </a:lnSpc>
            </a:pPr>
            <a:r>
              <a:rPr lang="en-US" dirty="0">
                <a:solidFill>
                  <a:srgbClr val="000000"/>
                </a:solidFill>
                <a:latin typeface="Arial Nova"/>
                <a:cs typeface="Times New Roman"/>
              </a:rPr>
              <a:t>Countries like Ethiopia and Uganda lead within the continent but still lag global leaders such as Brazil and Vietnam. </a:t>
            </a:r>
            <a:endParaRPr lang="en-US">
              <a:solidFill>
                <a:srgbClr val="363D45"/>
              </a:solidFill>
              <a:cs typeface="Times New Roman"/>
            </a:endParaRPr>
          </a:p>
          <a:p>
            <a:pPr algn="just">
              <a:lnSpc>
                <a:spcPct val="100000"/>
              </a:lnSpc>
            </a:pPr>
            <a:r>
              <a:rPr lang="en-US" dirty="0">
                <a:solidFill>
                  <a:srgbClr val="000000"/>
                </a:solidFill>
                <a:latin typeface="Arial Nova"/>
                <a:cs typeface="Times New Roman"/>
              </a:rPr>
              <a:t>By using pivot tables, calculated metrics, and dynamic visualizations, the study identified key gaps and opportunities for improvement. </a:t>
            </a:r>
            <a:endParaRPr lang="en-US">
              <a:solidFill>
                <a:srgbClr val="363D45"/>
              </a:solidFill>
              <a:cs typeface="Times New Roman"/>
            </a:endParaRPr>
          </a:p>
          <a:p>
            <a:pPr algn="just">
              <a:lnSpc>
                <a:spcPct val="100000"/>
              </a:lnSpc>
            </a:pPr>
            <a:r>
              <a:rPr lang="en-US" dirty="0">
                <a:solidFill>
                  <a:srgbClr val="000000"/>
                </a:solidFill>
                <a:latin typeface="Arial Nova"/>
                <a:cs typeface="Times New Roman"/>
              </a:rPr>
              <a:t>These insights can support policymakers in shaping agricultural reforms, guide development organizations in targeting resources effectively, inform investors about growth markets, and help farmers and cooperatives enhance productivity. </a:t>
            </a:r>
            <a:endParaRPr lang="en-US">
              <a:solidFill>
                <a:srgbClr val="363D45"/>
              </a:solidFill>
              <a:cs typeface="Times New Roman"/>
            </a:endParaRPr>
          </a:p>
          <a:p>
            <a:pPr algn="just">
              <a:lnSpc>
                <a:spcPct val="100000"/>
              </a:lnSpc>
            </a:pPr>
            <a:r>
              <a:rPr lang="en-US" dirty="0">
                <a:solidFill>
                  <a:srgbClr val="000000"/>
                </a:solidFill>
                <a:latin typeface="Arial Nova"/>
                <a:cs typeface="Times New Roman"/>
              </a:rPr>
              <a:t>Overall, the project provides a valuable foundation for data-driven strategies aimed at boosting Africa’s competitiveness and sustainability in the global coffee trade.</a:t>
            </a:r>
            <a:endParaRPr lang="en-US" dirty="0"/>
          </a:p>
        </p:txBody>
      </p:sp>
      <p:sp>
        <p:nvSpPr>
          <p:cNvPr id="3" name="Slide Number Placeholder 2">
            <a:extLst>
              <a:ext uri="{FF2B5EF4-FFF2-40B4-BE49-F238E27FC236}">
                <a16:creationId xmlns:a16="http://schemas.microsoft.com/office/drawing/2014/main" id="{CF152050-552A-7B16-808D-E686B4A13E4E}"/>
              </a:ext>
            </a:extLst>
          </p:cNvPr>
          <p:cNvSpPr>
            <a:spLocks noGrp="1"/>
          </p:cNvSpPr>
          <p:nvPr>
            <p:ph type="sldNum" sz="quarter" idx="12"/>
          </p:nvPr>
        </p:nvSpPr>
        <p:spPr/>
        <p:txBody>
          <a:bodyPr/>
          <a:lstStyle/>
          <a:p>
            <a:fld id="{4267CD5E-26CF-4249-8540-BB1D07FD4227}" type="slidenum">
              <a:rPr lang="en-US" smtClean="0"/>
              <a:t>14</a:t>
            </a:fld>
            <a:endParaRPr lang="en-US"/>
          </a:p>
        </p:txBody>
      </p:sp>
    </p:spTree>
    <p:extLst>
      <p:ext uri="{BB962C8B-B14F-4D97-AF65-F5344CB8AC3E}">
        <p14:creationId xmlns:p14="http://schemas.microsoft.com/office/powerpoint/2010/main" val="1378040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74E92-18BB-B4EE-4D8C-ACEA6B8AAA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B52554-7409-B67E-7E25-FCF545364E13}"/>
              </a:ext>
            </a:extLst>
          </p:cNvPr>
          <p:cNvSpPr>
            <a:spLocks noGrp="1"/>
          </p:cNvSpPr>
          <p:nvPr>
            <p:ph type="title"/>
          </p:nvPr>
        </p:nvSpPr>
        <p:spPr/>
        <p:txBody>
          <a:bodyPr/>
          <a:lstStyle/>
          <a:p>
            <a:r>
              <a:rPr lang="en-US">
                <a:latin typeface="Arial Nova Cond"/>
              </a:rPr>
              <a:t>Reference</a:t>
            </a:r>
            <a:endParaRPr lang="en-US"/>
          </a:p>
        </p:txBody>
      </p:sp>
      <p:sp>
        <p:nvSpPr>
          <p:cNvPr id="2" name="Content Placeholder 1">
            <a:extLst>
              <a:ext uri="{FF2B5EF4-FFF2-40B4-BE49-F238E27FC236}">
                <a16:creationId xmlns:a16="http://schemas.microsoft.com/office/drawing/2014/main" id="{B8D34B32-AB6C-D40B-2E4E-06E1593EC166}"/>
              </a:ext>
            </a:extLst>
          </p:cNvPr>
          <p:cNvSpPr>
            <a:spLocks noGrp="1"/>
          </p:cNvSpPr>
          <p:nvPr>
            <p:ph idx="1"/>
          </p:nvPr>
        </p:nvSpPr>
        <p:spPr>
          <a:xfrm>
            <a:off x="644771" y="1265028"/>
            <a:ext cx="10715543" cy="4817119"/>
          </a:xfrm>
        </p:spPr>
        <p:txBody>
          <a:bodyPr vert="horz" lIns="91440" tIns="45720" rIns="91440" bIns="45720" rtlCol="0" anchor="t">
            <a:normAutofit/>
          </a:bodyPr>
          <a:lstStyle/>
          <a:p>
            <a:pPr algn="just">
              <a:lnSpc>
                <a:spcPct val="100000"/>
              </a:lnSpc>
            </a:pPr>
            <a:r>
              <a:rPr lang="en-US" sz="2000" dirty="0">
                <a:solidFill>
                  <a:srgbClr val="000000"/>
                </a:solidFill>
                <a:latin typeface="Times New Roman"/>
                <a:cs typeface="Times New Roman"/>
              </a:rPr>
              <a:t>Kaggle: </a:t>
            </a:r>
            <a:r>
              <a:rPr lang="en-US" sz="2000" dirty="0">
                <a:latin typeface="Times New Roman"/>
                <a:cs typeface="Times New Roman"/>
                <a:hlinkClick r:id="rId2"/>
              </a:rPr>
              <a:t>https://www.kaggle.com/</a:t>
            </a:r>
            <a:r>
              <a:rPr lang="en-US" sz="2000" dirty="0">
                <a:solidFill>
                  <a:srgbClr val="000000"/>
                </a:solidFill>
                <a:latin typeface="Times New Roman"/>
                <a:cs typeface="Times New Roman"/>
              </a:rPr>
              <a:t> </a:t>
            </a:r>
            <a:endParaRPr lang="en-US" sz="2800" dirty="0"/>
          </a:p>
          <a:p>
            <a:pPr algn="just">
              <a:lnSpc>
                <a:spcPct val="100000"/>
              </a:lnSpc>
            </a:pPr>
            <a:r>
              <a:rPr lang="en-US" sz="2000" dirty="0">
                <a:solidFill>
                  <a:srgbClr val="000000"/>
                </a:solidFill>
                <a:latin typeface="Times New Roman"/>
                <a:cs typeface="Times New Roman"/>
              </a:rPr>
              <a:t>FAOSTAT Coffee Production Data 1961-2022:</a:t>
            </a:r>
            <a:endParaRPr lang="en-US" sz="2800" dirty="0">
              <a:solidFill>
                <a:srgbClr val="363D45"/>
              </a:solidFill>
              <a:cs typeface="Times New Roman"/>
            </a:endParaRPr>
          </a:p>
          <a:p>
            <a:pPr marL="0" indent="0" algn="just">
              <a:lnSpc>
                <a:spcPct val="100000"/>
              </a:lnSpc>
              <a:buNone/>
            </a:pPr>
            <a:r>
              <a:rPr lang="en-US" sz="2000" dirty="0">
                <a:latin typeface="Times New Roman"/>
                <a:cs typeface="Times New Roman"/>
                <a:hlinkClick r:id="rId3"/>
              </a:rPr>
              <a:t>https://www.kaggle.com/datasets/junkochida/faostat-coffee-production-data-1961-2022?select=Coffee_Production_1961-2022.csv</a:t>
            </a:r>
            <a:r>
              <a:rPr lang="en-US" sz="2000" dirty="0">
                <a:solidFill>
                  <a:srgbClr val="000000"/>
                </a:solidFill>
                <a:latin typeface="Times New Roman"/>
                <a:cs typeface="Times New Roman"/>
              </a:rPr>
              <a:t> </a:t>
            </a:r>
            <a:endParaRPr lang="en-US" sz="2800"/>
          </a:p>
          <a:p>
            <a:pPr algn="just">
              <a:lnSpc>
                <a:spcPct val="100000"/>
              </a:lnSpc>
            </a:pPr>
            <a:r>
              <a:rPr lang="en-US" sz="2000" dirty="0">
                <a:solidFill>
                  <a:srgbClr val="000000"/>
                </a:solidFill>
                <a:latin typeface="Times New Roman"/>
                <a:cs typeface="Times New Roman"/>
              </a:rPr>
              <a:t>Report for reference: Africa_s_Coffee_Sector_Status__Challenges_and_Opportunities_for_Growth</a:t>
            </a:r>
            <a:endParaRPr lang="en-US" sz="2800" dirty="0"/>
          </a:p>
          <a:p>
            <a:pPr marL="0" indent="0">
              <a:buNone/>
            </a:pPr>
            <a:endParaRPr lang="en-US" sz="2800" dirty="0"/>
          </a:p>
        </p:txBody>
      </p:sp>
      <p:sp>
        <p:nvSpPr>
          <p:cNvPr id="3" name="Slide Number Placeholder 2">
            <a:extLst>
              <a:ext uri="{FF2B5EF4-FFF2-40B4-BE49-F238E27FC236}">
                <a16:creationId xmlns:a16="http://schemas.microsoft.com/office/drawing/2014/main" id="{DA01834B-B0B9-4695-83CC-10EF40477C00}"/>
              </a:ext>
            </a:extLst>
          </p:cNvPr>
          <p:cNvSpPr>
            <a:spLocks noGrp="1"/>
          </p:cNvSpPr>
          <p:nvPr>
            <p:ph type="sldNum" sz="quarter" idx="12"/>
          </p:nvPr>
        </p:nvSpPr>
        <p:spPr/>
        <p:txBody>
          <a:bodyPr/>
          <a:lstStyle/>
          <a:p>
            <a:fld id="{4267CD5E-26CF-4249-8540-BB1D07FD4227}" type="slidenum">
              <a:rPr lang="en-US" smtClean="0"/>
              <a:t>15</a:t>
            </a:fld>
            <a:endParaRPr lang="en-US"/>
          </a:p>
        </p:txBody>
      </p:sp>
    </p:spTree>
    <p:extLst>
      <p:ext uri="{BB962C8B-B14F-4D97-AF65-F5344CB8AC3E}">
        <p14:creationId xmlns:p14="http://schemas.microsoft.com/office/powerpoint/2010/main" val="3070977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E131955-6C4C-7B35-2A63-219BDED3905A}"/>
              </a:ext>
            </a:extLst>
          </p:cNvPr>
          <p:cNvSpPr>
            <a:spLocks noGrp="1"/>
          </p:cNvSpPr>
          <p:nvPr>
            <p:ph type="sldNum" sz="quarter" idx="12"/>
          </p:nvPr>
        </p:nvSpPr>
        <p:spPr/>
        <p:txBody>
          <a:bodyPr anchor="ctr">
            <a:normAutofit/>
          </a:bodyPr>
          <a:lstStyle/>
          <a:p>
            <a:pPr>
              <a:spcAft>
                <a:spcPts val="600"/>
              </a:spcAft>
            </a:pPr>
            <a:fld id="{4267CD5E-26CF-4249-8540-BB1D07FD4227}" type="slidenum">
              <a:rPr lang="en-US" smtClean="0"/>
              <a:pPr>
                <a:spcAft>
                  <a:spcPts val="600"/>
                </a:spcAft>
              </a:pPr>
              <a:t>16</a:t>
            </a:fld>
            <a:endParaRPr lang="en-US"/>
          </a:p>
        </p:txBody>
      </p:sp>
      <p:pic>
        <p:nvPicPr>
          <p:cNvPr id="7" name="Picture 6" descr="A cup of coffee with a question mark made of coffee beans&#10;&#10;AI-generated content may be incorrect.">
            <a:extLst>
              <a:ext uri="{FF2B5EF4-FFF2-40B4-BE49-F238E27FC236}">
                <a16:creationId xmlns:a16="http://schemas.microsoft.com/office/drawing/2014/main" id="{CF4E59B6-DB86-0440-9D8C-6E970FE1AA5D}"/>
              </a:ext>
            </a:extLst>
          </p:cNvPr>
          <p:cNvPicPr>
            <a:picLocks noChangeAspect="1"/>
          </p:cNvPicPr>
          <p:nvPr/>
        </p:nvPicPr>
        <p:blipFill>
          <a:blip r:embed="rId2"/>
          <a:stretch>
            <a:fillRect/>
          </a:stretch>
        </p:blipFill>
        <p:spPr>
          <a:xfrm>
            <a:off x="2661810" y="1194224"/>
            <a:ext cx="6240650" cy="4165635"/>
          </a:xfrm>
          <a:prstGeom prst="rect">
            <a:avLst/>
          </a:prstGeom>
          <a:noFill/>
        </p:spPr>
      </p:pic>
    </p:spTree>
    <p:extLst>
      <p:ext uri="{BB962C8B-B14F-4D97-AF65-F5344CB8AC3E}">
        <p14:creationId xmlns:p14="http://schemas.microsoft.com/office/powerpoint/2010/main" val="291395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6531285"/>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adb0ca3-6aed-498b-a868-7ea0b699adef" xsi:nil="true"/>
    <lcf76f155ced4ddcb4097134ff3c332f xmlns="176515fe-2364-457e-85ce-2c28b2d1fab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63F583C21370479B8168B397293C9E" ma:contentTypeVersion="14" ma:contentTypeDescription="Create a new document." ma:contentTypeScope="" ma:versionID="43d2a4c88ce9da77fd41271f7353dbe9">
  <xsd:schema xmlns:xsd="http://www.w3.org/2001/XMLSchema" xmlns:xs="http://www.w3.org/2001/XMLSchema" xmlns:p="http://schemas.microsoft.com/office/2006/metadata/properties" xmlns:ns2="176515fe-2364-457e-85ce-2c28b2d1fab6" xmlns:ns3="3adb0ca3-6aed-498b-a868-7ea0b699adef" targetNamespace="http://schemas.microsoft.com/office/2006/metadata/properties" ma:root="true" ma:fieldsID="8e5f427ea94e0f2f4ccd5e0bcb81f478" ns2:_="" ns3:_="">
    <xsd:import namespace="176515fe-2364-457e-85ce-2c28b2d1fab6"/>
    <xsd:import namespace="3adb0ca3-6aed-498b-a868-7ea0b699ade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6515fe-2364-457e-85ce-2c28b2d1fa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52586c-27ab-4ec5-821d-30b0f32160b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adb0ca3-6aed-498b-a868-7ea0b699ade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178fd87-bbca-4aa4-821c-c18e4381852e}" ma:internalName="TaxCatchAll" ma:showField="CatchAllData" ma:web="3adb0ca3-6aed-498b-a868-7ea0b699ade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99719C-8EFD-4920-A138-F4557E2227F5}">
  <ds:schemaRefs>
    <ds:schemaRef ds:uri="176515fe-2364-457e-85ce-2c28b2d1fab6"/>
    <ds:schemaRef ds:uri="3adb0ca3-6aed-498b-a868-7ea0b699adef"/>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853C86C-82EE-4D6F-861E-7927A4E4F4CD}">
  <ds:schemaRefs>
    <ds:schemaRef ds:uri="http://schemas.microsoft.com/sharepoint/v3/contenttype/forms"/>
  </ds:schemaRefs>
</ds:datastoreItem>
</file>

<file path=customXml/itemProps3.xml><?xml version="1.0" encoding="utf-8"?>
<ds:datastoreItem xmlns:ds="http://schemas.openxmlformats.org/officeDocument/2006/customXml" ds:itemID="{C2F0059C-B9DD-40E5-9038-BD61A18F499A}">
  <ds:schemaRefs>
    <ds:schemaRef ds:uri="176515fe-2364-457e-85ce-2c28b2d1fab6"/>
    <ds:schemaRef ds:uri="3adb0ca3-6aed-498b-a868-7ea0b699ade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47</TotalTime>
  <Words>1673</Words>
  <Application>Microsoft Office PowerPoint</Application>
  <PresentationFormat>Widescreen</PresentationFormat>
  <Paragraphs>151</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Nova</vt:lpstr>
      <vt:lpstr>Arial Nova Cond</vt:lpstr>
      <vt:lpstr>Arial Nova Cond Light</vt:lpstr>
      <vt:lpstr>IBM Plex Sans Light</vt:lpstr>
      <vt:lpstr>System Font Regular</vt:lpstr>
      <vt:lpstr>Times New Roman</vt:lpstr>
      <vt:lpstr>Wingdings</vt:lpstr>
      <vt:lpstr>Office Theme</vt:lpstr>
      <vt:lpstr>BIA 500-B Business Analytics: Data, Models, and Decisions </vt:lpstr>
      <vt:lpstr>Coffee Trade Analysis:  A Comparative Study of Africa and Global Coffee Production</vt:lpstr>
      <vt:lpstr>Project Objective</vt:lpstr>
      <vt:lpstr>Project Overview</vt:lpstr>
      <vt:lpstr>Dataset Overview</vt:lpstr>
      <vt:lpstr>Data Analysis &amp; Visualization </vt:lpstr>
      <vt:lpstr>Total Coffee Production by Country</vt:lpstr>
      <vt:lpstr>Global Production Trends Over Time (year)</vt:lpstr>
      <vt:lpstr>Yearly Global Trends Over Time (Avg Time)</vt:lpstr>
      <vt:lpstr>Yield by Continent</vt:lpstr>
      <vt:lpstr>Production by Continent </vt:lpstr>
      <vt:lpstr>Comparative Analysis: Area Harvested vs Production.t</vt:lpstr>
      <vt:lpstr>Challenge &amp; Solution </vt:lpstr>
      <vt:lpstr>Conclusion </vt:lpstr>
      <vt:lpstr>Reference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Ivan Caro</dc:creator>
  <cp:lastModifiedBy>Janvi Lakhani</cp:lastModifiedBy>
  <cp:revision>669</cp:revision>
  <dcterms:created xsi:type="dcterms:W3CDTF">2022-06-10T19:28:06Z</dcterms:created>
  <dcterms:modified xsi:type="dcterms:W3CDTF">2025-05-06T20:27:57Z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0x0101003A63F583C21370479B8168B397293C9E</vt:lpwstr>
  </property>
  <property fmtid="{D5CDD505-2E9C-101B-9397-08002B2CF9AE}" pid="3" name="Order">
    <vt:r8>295200</vt:r8>
  </property>
  <property fmtid="{D5CDD505-2E9C-101B-9397-08002B2CF9AE}" pid="4" name="_ExtendedDescription">
    <vt:lpwstr/>
  </property>
  <property fmtid="{D5CDD505-2E9C-101B-9397-08002B2CF9AE}" pid="5" name="TriggerFlowInfo">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MediaServiceImageTags">
    <vt:lpwstr/>
  </property>
</Properties>
</file>